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chào Quý Thầy Cô trong Hội đồng đánh giá và các bạn sinh viên.</a:t>
            </a:r>
          </a:p>
          <a:p>
            <a:r>
              <a:t>Hôm nay, nhóm chúng em xin đại diện báo cáo kết quả nghiên cứu và thiết kế kiến trúc kỹ thuật của Đề tài 07: 'Hệ thống Quản lý Kho Thông minh tích hợp Trí tuệ Nhân tạo (WMS AI)'.</a:t>
            </a:r>
          </a:p>
          <a:p>
            <a:r>
              <a:t>Đề tài được xây dựng trên nền tảng công nghệ hiện đại nhất hiện nay: FastAPI chạy trên Python 3.14, React 18 SPA kết hợp công nghệ Generative AI từ Google Gemini và bộ động cơ dự phòng Heuristic nội tại. Sau đây, chúng em xin đi vào chi tiết cấu trúc và giải pháp kỹ thuật của hệ thống.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Ở slide này, nhóm xin làm rõ 3 bài toán lớn nhất mà thực tế các doanh nghiệp kho bãi đang đối mặt:</a:t>
            </a:r>
          </a:p>
          <a:p>
            <a:r>
              <a:t>1. Lỗi tồn kho âm: Khi nhiều thủ kho cùng xuất một mặt hàng, nếu không có cơ chế giao dịch ACID nghiêm ngặt, tồn kho sẽ bị âm.</a:t>
            </a:r>
          </a:p>
          <a:p>
            <a:r>
              <a:t>2. Hiện tượng giam giữ hàng ảo: Các phần mềm đơn giản thường trừ kho ngay khi lập đơn, khiến hàng bị treo dù đơn chưa giao đi.</a:t>
            </a:r>
          </a:p>
          <a:p>
            <a:r>
              <a:t>3. Trải nghiệm thao tác: Thủ kho là người làm việc chân tay, cần phần mềm gõ nhanh, tìm nhanh chứ không thể nhớ hàng trăm mã SKU phức tạp.</a:t>
            </a:r>
          </a:p>
          <a:p>
            <a:r>
              <a:t>Hệ thống WMS AI được thiết kế giải quyết triệt để cả 3 điểm nghẽn này ngay từ cấp độ kiến trúc.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sơ đồ kiến trúc 3 tầng chuẩn Clean Architecture của hệ thống:</a:t>
            </a:r>
          </a:p>
          <a:p>
            <a:r>
              <a:t>- Tầng Giao diện được tối ưu hóa cực kỳ nhẹ, kích thước bundle chỉ 95KB sau nén Gzip, giúp mở ứng dụng ngay tức thì trên các thiết bị máy tính bảng hoặc máy quét mã cầm tay của thủ kho.</a:t>
            </a:r>
          </a:p>
          <a:p>
            <a:r>
              <a:t>- Tầng Backend viết bằng FastAPI trên Python 3.14 tận dụng cơ chế Asynchronous I/O của Uvicorn, chia tách tri thức nghiệp vụ nằm hoàn toàn trong tầng Services thay vì để code lộn xộn trong Router.</a:t>
            </a:r>
          </a:p>
          <a:p>
            <a:r>
              <a:t>- Tầng Database áp dụng ORM SQLAlchemy, bảo đảm tính độc lập với hệ quản trị cơ sở dữ liệu.</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phân quyền, đồ án cài đặt mô hình RBAC 3 cấp độ:</a:t>
            </a:r>
          </a:p>
          <a:p>
            <a:r>
              <a:t>- Admin: Quản lý hạ tầng, tài khoản và cấu hình prompt/API key của AI Copilot.</a:t>
            </a:r>
          </a:p>
          <a:p>
            <a:r>
              <a:t>- Thủ kho: Trực tiếp thao tác nhập, xuất và kiểm kê; tập trung vào số lượng vật lý.</a:t>
            </a:r>
          </a:p>
          <a:p>
            <a:r>
              <a:t>- Kế toán: Giám sát sổ cái thẻ kho, đối soát chênh lệch và khai thác các báo cáo tài chính.</a:t>
            </a:r>
          </a:p>
          <a:p>
            <a:r>
              <a:t>Cơ chế này giúp bảo mật tối đa, ngăn ngừa rủi ro gian lận và thông đồng số liệu.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 trình nhập kho diễn ra theo chu trình 5 bước nghiêm ngặt:</a:t>
            </a:r>
          </a:p>
          <a:p>
            <a:r>
              <a:t>- Mã phiếu nhập được sinh tự động theo quy tắc PN-NămThángNgày-SốThứTự (ví dụ PN-20260925-0001).</a:t>
            </a:r>
          </a:p>
          <a:p>
            <a:r>
              <a:t>- Giá vốn của từng đợt nhập được lưu chi tiết trong bảng import_note_details để phục vụ tính giá vốn bình quân và đối soát kế toán.</a:t>
            </a:r>
          </a:p>
          <a:p>
            <a:r>
              <a:t>- Mọi biến động đều được bao bọc trong Database Transaction. Nếu kết nối CSDL bị đứt giữa chừng, toàn bộ thay đổi sẽ được Rollback, không có tình trạng phiếu tạo rồi mà tồn kho chưa tăng.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điểm sáng thiết kế nghiệp vụ của đề tài:</a:t>
            </a:r>
          </a:p>
          <a:p>
            <a:r>
              <a:t>- Thay vì chỉ có 1 bước xuất kho đơn điệu như các hệ thống cũ, chúng em xây dựng Cỗ máy trạng thái 3 bước.</a:t>
            </a:r>
          </a:p>
          <a:p>
            <a:r>
              <a:t>- Ở bước CONFIRMED: Hàng chưa trừ, tránh tình trạng giam hàng ảo làm các đơn hàng khác không xuất được.</a:t>
            </a:r>
          </a:p>
          <a:p>
            <a:r>
              <a:t>- Ở bước SHIPPING: Lúc này hàng mới rời khỏi kệ kho và chuyển lên xe giao hàng, tồn kho được trừ và ghi Thẻ kho.</a:t>
            </a:r>
          </a:p>
          <a:p>
            <a:r>
              <a:t>- Đặc biệt, nếu giao hàng thất bại, tính năng 'Hủy đơn &amp; Hoàn kho' tự động cộng trả lại đúng số lượng đó vào kho và ghi nhận lịch sử hoàn kho rõ ràng.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giải quyết triệt để lỗi tồn kho âm, chúng em triển khai chốt chặn kép Two-Tier Defense:</a:t>
            </a:r>
          </a:p>
          <a:p>
            <a:r>
              <a:t>- Ở tầng Service, thuật toán Atomic Check kiểm tra số lượng và ném lỗi 400 thân thiện nếu thiếu hàng.</a:t>
            </a:r>
          </a:p>
          <a:p>
            <a:r>
              <a:t>- Ở tầng Database, chúng em khai báo CheckConstraint 'current_stock &gt;= 0' trực tiếp trong DDL của bảng products. Ngay cả khi hacker cố tình gọi API vượt mặt hoặc code xảy ra race condition, SQLite hay PostgreSQL đều sẽ ném IntegrityError và từ chối ghi đĩa.</a:t>
            </a:r>
          </a:p>
          <a:p>
            <a:r>
              <a:t>Nhờ đó, hệ thống cam kết 100% không bao giờ xảy ra lỗi tồn kho âm.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Ở phân hệ kiểm toán kho:</a:t>
            </a:r>
          </a:p>
          <a:p>
            <a:r>
              <a:t>1. Bảng stock_ledger được thiết kế theo nguyên lý Append-Only. Mỗi lần xuất nhập đều ghi rõ tồn trước và tồn sau giao dịch.</a:t>
            </a:r>
          </a:p>
          <a:p>
            <a:r>
              <a:t>2. Tính năng kiểm kê bù trừ là một tính năng cực kỳ thực tế. Khi kho thực tế bị lệch so với phần mềm, thủ kho chỉ cần nhập số đếm được, hệ thống tự tính phần chênh lệch và tạo phiếu KK để cân bằng số liệu mà không làm gián đoạn sổ sách.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phân hệ Trí tuệ Nhân tạo, đây là trọng tâm yêu cầu của Đề tài 07:</a:t>
            </a:r>
          </a:p>
          <a:p>
            <a:r>
              <a:t>- Hệ thống tích hợp Google Gemini để thực hiện 3 năng lực: Báo cáo Nhập-Xuất-Tồn tự động, Đề xuất nhập hàng theo công thức ROP/EOQ, và Cảnh báo biến động bất thường.</a:t>
            </a:r>
          </a:p>
          <a:p>
            <a:r>
              <a:t>- Chúng em áp dụng kỹ thuật Prompt Engineering chặt chẽ: Định danh vai trò chuyên gia, ép buộc cấu trúc JSON hoặc Markdown chuẩn, và đặc biệt là cơ chế Data Sanitization bóc tách giá nhập nhạy cảm trước khi gửi dữ liệu sang bên thứ ba.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Một trong những ưu điểm kỹ thuật vượt trội của hệ thống là cơ chế Heuristic Fallback:</a:t>
            </a:r>
          </a:p>
          <a:p>
            <a:r>
              <a:t>- Nếu hệ thống phụ thuộc hoàn toàn vào Cloud AI, khi mất mạng cáp quang hoặc hết hạn mức API, ứng dụng sẽ bị treo hoặc báo lỗi.</a:t>
            </a:r>
          </a:p>
          <a:p>
            <a:r>
              <a:t>- Để giải quyết triệt để vấn đề này, chúng em đã tự viết một động cơ Heuristic Fallback Engine chạy cục bộ bằng Python.</a:t>
            </a:r>
          </a:p>
          <a:p>
            <a:r>
              <a:t>- Khi API Gemini lỗi, hệ thống tự động bắt ngoại lệ và chuyển sang chế độ Heuristic trong vòng vài phần trăm giây. Thủ kho vẫn nhận được đầy đủ số liệu báo cáo và danh sách cần nhập hàng.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thiết kế cơ sở dữ liệu:</a:t>
            </a:r>
          </a:p>
          <a:p>
            <a:r>
              <a:t>- Hệ thống gồm 9 bảng được chuẩn hóa đạt chuẩn 3NF, loại bỏ hoàn toàn dư thừa dữ liệu.</a:t>
            </a:r>
          </a:p>
          <a:p>
            <a:r>
              <a:t>- Bảng products liên kết chặt chẽ với categories; import_notes và export_notes đều có bảng chi tiết details đi kèm.</a:t>
            </a:r>
          </a:p>
          <a:p>
            <a:r>
              <a:t>- Bảng stock_ledger là trung tâm lưu vết mọi biến động số lượng hàng hóa.</a:t>
            </a:r>
          </a:p>
          <a:p>
            <a:r>
              <a:t>- Tất cả các khóa ngoại đều được cấu hình kiểm tra toàn vẹn tham chiếu nghiêm ngặt.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trải nghiệm người dùng, nhóm đã nghiên cứu rất kỹ thói quen của thủ kho:</a:t>
            </a:r>
          </a:p>
          <a:p>
            <a:r>
              <a:t>- Thay vì dùng thẻ select mặc định của HTML bắt người dùng cuộn chuột tìm kiếm hàng trăm sản phẩm rất mỏi mắt, chúng em xây dựng component ProductSelect.jsx.</a:t>
            </a:r>
          </a:p>
          <a:p>
            <a:r>
              <a:t>- Component này tích hợp thuật toán trích xuất chữ cái đầu Initials kết hợp khử dấu tiếng Việt. Thủ kho chỉ cần gõ 'blv' là hệ thống tự khớp 'Bàn Làm Việc'.</a:t>
            </a:r>
          </a:p>
          <a:p>
            <a:r>
              <a:t>- Tính năng tự động bôi đen khi focus và hỗ trợ phím mũi tên giúp người vận hành có thể lập phiếu nhập xuất liên tục chỉ bằng bàn phím, tiết kiệm đến 70% thời gian thao tác.</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các chỉ số phi chức năng:</a:t>
            </a:r>
          </a:p>
          <a:p>
            <a:r>
              <a:t>- Về hiệu năng: Gói mã nguồn frontend chỉ 95KB sau khi nén Gzip, tải tức thì trong vòng nửa giây; thời gian phản hồi API dưới 100ms.</a:t>
            </a:r>
          </a:p>
          <a:p>
            <a:r>
              <a:t>- Về độ tin cậy: Tuân thủ tuyệt đối chuẩn ACID với chốt chặn CheckConstraint.</a:t>
            </a:r>
          </a:p>
          <a:p>
            <a:r>
              <a:t>- Về bảo mật: Sử dụng Bcrypt và JWT Token.</a:t>
            </a:r>
          </a:p>
          <a:p>
            <a:r>
              <a:t>- Đặc biệt về bảo mật AI: Hệ thống làm sạch dữ liệu trước khi gọi Gemini, đảm bảo thông tin giá vốn nhập hàng của doanh nghiệp không bao giờ bị truyền ra Internet.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kiến trúc triển khai:</a:t>
            </a:r>
          </a:p>
          <a:p>
            <a:r>
              <a:t>- Toàn bộ hệ thống được container hóa bằng Docker với mô hình Multi-stage build gọn nhẹ.</a:t>
            </a:r>
          </a:p>
          <a:p>
            <a:r>
              <a:t>- Frontend được phân phối qua Nginx Alpine siêu nhẹ và làm Reverse Proxy.</a:t>
            </a:r>
          </a:p>
          <a:p>
            <a:r>
              <a:t>- Backend chạy FastAPI với ASGI Server Uvicorn trên nền Python 3.14.</a:t>
            </a:r>
          </a:p>
          <a:p>
            <a:r>
              <a:t>- Dữ liệu được bảo toàn trên Docker Persistent Volume. Mô hình này cho phép doanh nghiệp triển khai On-premises tại kho hoặc đưa lên các nền tảng điện toán đám mây như AWS, GCP hay máy chủ riêng một cách dễ dàng chỉ bằng lệnh docker-compose up.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Tổng kết lại kết quả của Đề tài 07:</a:t>
            </a:r>
          </a:p>
          <a:p>
            <a:r>
              <a:t>- Nhóm chúng em đã hoàn thành 100% các yêu cầu kỹ thuật và nghiệp vụ được giao trong bản đặc tả kiến trúc.</a:t>
            </a:r>
          </a:p>
          <a:p>
            <a:r>
              <a:t>- Hệ thống đã triệt tiêu được lỗi tồn âm, giải quyết bài toán giam giữ hàng ảo qua cỗ máy 3 bước, tích hợp thành công AI Google Gemini với bộ dự phòng Heuristic 24/7 và mang lại trải nghiệm công thái học vượt trội cho thủ kho.</a:t>
            </a:r>
          </a:p>
          <a:p>
            <a:r>
              <a:t>- Toàn bộ các module đều đã vượt qua các kịch bản kiểm thử tích hợp và kiểm thử hộp đen với độ tin cậy tuyệt đối.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Bài thuyết trình báo cáo kiến trúc hệ thống của nhóm chúng em đến đây là kết thúc.</a:t>
            </a:r>
          </a:p>
          <a:p>
            <a:r>
              <a:t>Chúng em xin chân thành cảm ơn Quý Thầy Cô trong Hội đồng đánh giá đã dành thời gian lắng nghe và theo dõi.</a:t>
            </a:r>
          </a:p>
          <a:p>
            <a:r>
              <a:t>Sau đây, chúng em xin kính mời Quý Thầy Cô và các bạn đặt câu hỏi phản biện để nhóm có cơ hội làm rõ hơn các giải pháp kỹ thuật của đề tài. Chúng em xin trân trọng cảm ơn!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548640"/>
            <a:ext cx="10728655"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822960"/>
            <a:ext cx="10728655" cy="731520"/>
          </a:xfrm>
          <a:prstGeom prst="rect">
            <a:avLst/>
          </a:prstGeom>
          <a:noFill/>
        </p:spPr>
        <p:txBody>
          <a:bodyPr wrap="square">
            <a:spAutoFit/>
          </a:bodyPr>
          <a:lstStyle/>
          <a:p>
            <a:pPr>
              <a:defRPr sz="1300" b="1">
                <a:solidFill>
                  <a:srgbClr val="FEF3C7"/>
                </a:solidFill>
                <a:latin typeface="Segoe UI"/>
              </a:defRPr>
            </a:pPr>
            <a:r>
              <a:t>BỘ GIÁO DỤC VÀ ĐÀO TẠO — TRƯỜNG ĐẠI HỌC CÔNG NGHỆ</a:t>
            </a:r>
          </a:p>
          <a:p>
            <a:pPr>
              <a:defRPr sz="1100">
                <a:solidFill>
                  <a:srgbClr val="CBD5E1"/>
                </a:solidFill>
                <a:latin typeface="Segoe UI"/>
              </a:defRPr>
            </a:pPr>
            <a:r>
              <a:t>KHOA CÔNG NGHỆ THÔNG TIN • BỘ MÔN CÔNG NGHỆ PHẦN MỀM &amp; TRÍ TUỆ NHÂN TẠO</a:t>
            </a:r>
          </a:p>
        </p:txBody>
      </p:sp>
      <p:sp>
        <p:nvSpPr>
          <p:cNvPr id="5" name="Rounded Rectangle 4"/>
          <p:cNvSpPr/>
          <p:nvPr/>
        </p:nvSpPr>
        <p:spPr>
          <a:xfrm>
            <a:off x="731520" y="1828800"/>
            <a:ext cx="4114800" cy="384048"/>
          </a:xfrm>
          <a:prstGeom prst="roundRect">
            <a:avLst/>
          </a:prstGeom>
          <a:solidFill>
            <a:srgbClr val="1E293B"/>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EF3C7"/>
                </a:solidFill>
                <a:latin typeface="Segoe UI"/>
              </a:defRPr>
            </a:pPr>
            <a:r>
              <a:t>ĐỀ TÀI NGHIÊN CỨU &amp; PHÁT TRIỂN 07</a:t>
            </a:r>
          </a:p>
        </p:txBody>
      </p:sp>
      <p:sp>
        <p:nvSpPr>
          <p:cNvPr id="6" name="TextBox 5"/>
          <p:cNvSpPr txBox="1"/>
          <p:nvPr/>
        </p:nvSpPr>
        <p:spPr>
          <a:xfrm>
            <a:off x="731520" y="2377440"/>
            <a:ext cx="10728655" cy="1920240"/>
          </a:xfrm>
          <a:prstGeom prst="rect">
            <a:avLst/>
          </a:prstGeom>
          <a:noFill/>
        </p:spPr>
        <p:txBody>
          <a:bodyPr wrap="square">
            <a:spAutoFit/>
          </a:bodyPr>
          <a:lstStyle/>
          <a:p>
            <a:pPr>
              <a:defRPr sz="1800" b="1">
                <a:solidFill>
                  <a:srgbClr val="94A3B8"/>
                </a:solidFill>
                <a:latin typeface="Segoe UI"/>
              </a:defRPr>
            </a:pPr>
            <a:r>
              <a:t>BÁO CÁO ĐẶC TẢ YÊU CẦU &amp; THIẾT KẾ KIẾN TRÚC HỆ THỐNG</a:t>
            </a:r>
          </a:p>
          <a:p>
            <a:pPr>
              <a:defRPr sz="3200" b="1">
                <a:solidFill>
                  <a:srgbClr val="FFFFFF"/>
                </a:solidFill>
                <a:latin typeface="Segoe UI"/>
              </a:defRPr>
            </a:pPr>
            <a:r>
              <a:t>HỆ THỐNG QUẢN LÝ KHO THÔNG MINH</a:t>
            </a:r>
            <a:br/>
            <a:r>
              <a:t>TÍCH HỢP TRÍ TUỆ NHÂN TẠO (WMS AI)</a:t>
            </a:r>
          </a:p>
        </p:txBody>
      </p:sp>
      <p:sp>
        <p:nvSpPr>
          <p:cNvPr id="7" name="Rounded Rectangle 6"/>
          <p:cNvSpPr/>
          <p:nvPr/>
        </p:nvSpPr>
        <p:spPr>
          <a:xfrm>
            <a:off x="731520" y="4480560"/>
            <a:ext cx="5120640" cy="16459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228600" tIns="182880"/>
          <a:lstStyle/>
          <a:p>
            <a:pPr algn="ctr">
              <a:defRPr sz="1100" b="1">
                <a:solidFill>
                  <a:srgbClr val="FEF3C7"/>
                </a:solidFill>
                <a:latin typeface="Segoe UI"/>
              </a:defRPr>
            </a:pPr>
            <a:r>
              <a:t>THÔNG TIN HỌC PHẦN &amp; TÁC GIẢ</a:t>
            </a:r>
          </a:p>
          <a:p>
            <a:pPr>
              <a:defRPr sz="1000">
                <a:solidFill>
                  <a:srgbClr val="E2E8F0"/>
                </a:solidFill>
                <a:latin typeface="Segoe UI"/>
              </a:defRPr>
            </a:pPr>
            <a:r>
              <a:t>• Học phần: Triển khai Phần mềm &amp; AI trong CNPM</a:t>
            </a:r>
          </a:p>
          <a:p>
            <a:pPr>
              <a:defRPr sz="1000">
                <a:solidFill>
                  <a:srgbClr val="E2E8F0"/>
                </a:solidFill>
                <a:latin typeface="Segoe UI"/>
              </a:defRPr>
            </a:pPr>
            <a:r>
              <a:t>• Nhóm tác giả: Nhóm Nghiên cứu &amp; Phát triển WMS AI</a:t>
            </a:r>
          </a:p>
          <a:p>
            <a:pPr>
              <a:defRPr sz="1000">
                <a:solidFill>
                  <a:srgbClr val="E2E8F0"/>
                </a:solidFill>
                <a:latin typeface="Segoe UI"/>
              </a:defRPr>
            </a:pPr>
            <a:r>
              <a:t>• Phiên bản: Chuẩn hóa 2026 (Nghiệm thu Tháng 09/2026)</a:t>
            </a:r>
          </a:p>
        </p:txBody>
      </p:sp>
      <p:sp>
        <p:nvSpPr>
          <p:cNvPr id="8" name="Rounded Rectangle 7"/>
          <p:cNvSpPr/>
          <p:nvPr/>
        </p:nvSpPr>
        <p:spPr>
          <a:xfrm>
            <a:off x="6217920" y="4480560"/>
            <a:ext cx="5242255" cy="164592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228600" tIns="182880"/>
          <a:lstStyle/>
          <a:p>
            <a:pPr algn="ctr">
              <a:defRPr sz="1100" b="1">
                <a:solidFill>
                  <a:srgbClr val="0D9488"/>
                </a:solidFill>
                <a:latin typeface="Segoe UI"/>
              </a:defRPr>
            </a:pPr>
            <a:r>
              <a:t>NỀN TẢNG CÔNG NGHỆ CHỦ ĐẠO</a:t>
            </a:r>
          </a:p>
          <a:p>
            <a:pPr>
              <a:defRPr sz="1000">
                <a:solidFill>
                  <a:srgbClr val="E2E8F0"/>
                </a:solidFill>
                <a:latin typeface="Segoe UI"/>
              </a:defRPr>
            </a:pPr>
            <a:r>
              <a:t>• Backend: FastAPI (Python 3.14), SQLAlchemy ORM, Uvicorn ASGI</a:t>
            </a:r>
          </a:p>
          <a:p>
            <a:pPr>
              <a:defRPr sz="1000">
                <a:solidFill>
                  <a:srgbClr val="E2E8F0"/>
                </a:solidFill>
                <a:latin typeface="Segoe UI"/>
              </a:defRPr>
            </a:pPr>
            <a:r>
              <a:t>• Frontend: React 18 SPA, Vite Bundler, Tailwind CSS (Warm Wood)</a:t>
            </a:r>
          </a:p>
          <a:p>
            <a:pPr>
              <a:defRPr sz="1000">
                <a:solidFill>
                  <a:srgbClr val="E2E8F0"/>
                </a:solidFill>
                <a:latin typeface="Segoe UI"/>
              </a:defRPr>
            </a:pPr>
            <a:r>
              <a:t>• AI Engine: Google Gemini LLM tích hợp Heuristic Fallback 24/7</a:t>
            </a:r>
          </a:p>
          <a:p>
            <a:pPr>
              <a:defRPr sz="1000">
                <a:solidFill>
                  <a:srgbClr val="E2E8F0"/>
                </a:solidFill>
                <a:latin typeface="Segoe UI"/>
              </a:defRPr>
            </a:pPr>
            <a:r>
              <a:t>• Cơ sở dữ liệu: SQLite / PostgreSQL chuẩn hóa 3NF, ACID an toàn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92608"/>
          </a:xfrm>
          <a:prstGeom prst="rect">
            <a:avLst/>
          </a:prstGeom>
          <a:noFill/>
        </p:spPr>
        <p:txBody>
          <a:bodyPr wrap="square" lIns="0" tIns="0" rIns="0" bIns="0">
            <a:spAutoFit/>
          </a:bodyPr>
          <a:lstStyle/>
          <a:p>
            <a:pPr>
              <a:defRPr sz="1000" b="1">
                <a:solidFill>
                  <a:srgbClr val="B45309"/>
                </a:solidFill>
                <a:latin typeface="Segoe UI"/>
              </a:defRPr>
            </a:pPr>
            <a:r>
              <a:t>CHƯƠNG 2: BỐI CẢNH &amp; THÁCH THỨC</a:t>
            </a:r>
          </a:p>
        </p:txBody>
      </p:sp>
      <p:sp>
        <p:nvSpPr>
          <p:cNvPr id="4" name="TextBox 3"/>
          <p:cNvSpPr txBox="1"/>
          <p:nvPr/>
        </p:nvSpPr>
        <p:spPr>
          <a:xfrm>
            <a:off x="731520" y="640080"/>
            <a:ext cx="10728655" cy="475488"/>
          </a:xfrm>
          <a:prstGeom prst="rect">
            <a:avLst/>
          </a:prstGeom>
          <a:noFill/>
        </p:spPr>
        <p:txBody>
          <a:bodyPr wrap="square" lIns="0" tIns="0" rIns="0" bIns="0">
            <a:spAutoFit/>
          </a:bodyPr>
          <a:lstStyle/>
          <a:p>
            <a:pPr>
              <a:defRPr sz="2200" b="1">
                <a:solidFill>
                  <a:srgbClr val="0F172A"/>
                </a:solidFill>
                <a:latin typeface="Segoe UI"/>
              </a:defRPr>
            </a:pPr>
            <a:r>
              <a:t>3 Bài Toán Nhức Nhối Của Kho Bãi Truyền Thống</a:t>
            </a:r>
          </a:p>
        </p:txBody>
      </p:sp>
      <p:sp>
        <p:nvSpPr>
          <p:cNvPr id="5" name="TextBox 4"/>
          <p:cNvSpPr txBox="1"/>
          <p:nvPr/>
        </p:nvSpPr>
        <p:spPr>
          <a:xfrm>
            <a:off x="731520" y="1133856"/>
            <a:ext cx="10728655" cy="320040"/>
          </a:xfrm>
          <a:prstGeom prst="rect">
            <a:avLst/>
          </a:prstGeom>
          <a:noFill/>
        </p:spPr>
        <p:txBody>
          <a:bodyPr wrap="square" lIns="0" tIns="0" rIns="0" bIns="0">
            <a:spAutoFit/>
          </a:bodyPr>
          <a:lstStyle/>
          <a:p>
            <a:pPr>
              <a:defRPr sz="1200">
                <a:solidFill>
                  <a:srgbClr val="475569"/>
                </a:solidFill>
                <a:latin typeface="Segoe UI"/>
              </a:defRPr>
            </a:pPr>
            <a:r>
              <a:t>Hệ thống giải quyết triệt để 3 vấn đề gây thất thoát, nghẽn dòng chảy và sai lệch số liệu</a:t>
            </a:r>
          </a:p>
        </p:txBody>
      </p:sp>
      <p:sp>
        <p:nvSpPr>
          <p:cNvPr id="6" name="Rectangle 5"/>
          <p:cNvSpPr/>
          <p:nvPr/>
        </p:nvSpPr>
        <p:spPr>
          <a:xfrm>
            <a:off x="731520" y="15087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400800"/>
            <a:ext cx="1072865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46520"/>
            <a:ext cx="7315200" cy="274320"/>
          </a:xfrm>
          <a:prstGeom prst="rect">
            <a:avLst/>
          </a:prstGeom>
          <a:noFill/>
        </p:spPr>
        <p:txBody>
          <a:bodyPr wrap="square" lIns="0" tIns="0" rIns="0" bIns="0">
            <a:spAutoFit/>
          </a:bodyPr>
          <a:lstStyle/>
          <a:p>
            <a:pPr>
              <a:defRPr sz="900">
                <a:solidFill>
                  <a:srgbClr val="475569"/>
                </a:solidFill>
                <a:latin typeface="Segoe UI"/>
              </a:defRPr>
            </a:pPr>
            <a:r>
              <a:t>Hệ thống Quản lý Kho Thông minh (WMS AI) — Đề tài 07 | Phiên bản chuẩn hóa 2026</a:t>
            </a:r>
          </a:p>
        </p:txBody>
      </p:sp>
      <p:sp>
        <p:nvSpPr>
          <p:cNvPr id="9" name="TextBox 8"/>
          <p:cNvSpPr txBox="1"/>
          <p:nvPr/>
        </p:nvSpPr>
        <p:spPr>
          <a:xfrm>
            <a:off x="8716975" y="6446520"/>
            <a:ext cx="2743200" cy="274320"/>
          </a:xfrm>
          <a:prstGeom prst="rect">
            <a:avLst/>
          </a:prstGeom>
          <a:noFill/>
        </p:spPr>
        <p:txBody>
          <a:bodyPr wrap="square" lIns="0" tIns="0" rIns="0" bIns="0">
            <a:spAutoFit/>
          </a:bodyPr>
          <a:lstStyle/>
          <a:p>
            <a:pPr algn="r">
              <a:defRPr sz="900" b="1">
                <a:solidFill>
                  <a:srgbClr val="B45309"/>
                </a:solidFill>
                <a:latin typeface="Segoe UI"/>
              </a:defRPr>
            </a:pPr>
            <a:r>
              <a:t>Trang 2 / 16</a:t>
            </a:r>
          </a:p>
        </p:txBody>
      </p:sp>
      <p:sp>
        <p:nvSpPr>
          <p:cNvPr id="10" name="Rounded Rectangle 9"/>
          <p:cNvSpPr/>
          <p:nvPr/>
        </p:nvSpPr>
        <p:spPr>
          <a:xfrm>
            <a:off x="731520" y="1737360"/>
            <a:ext cx="338328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000" b="1">
                <a:solidFill>
                  <a:srgbClr val="EF4444"/>
                </a:solidFill>
                <a:latin typeface="Segoe UI"/>
              </a:defRPr>
            </a:pPr>
            <a:r>
              <a:t>VẤN ĐỀ 1</a:t>
            </a:r>
          </a:p>
          <a:p>
            <a:pPr>
              <a:defRPr sz="1400" b="1">
                <a:solidFill>
                  <a:srgbClr val="0F172A"/>
                </a:solidFill>
                <a:latin typeface="Segoe UI"/>
              </a:defRPr>
            </a:pPr>
            <a:r>
              <a:t>Lỗi Tồn Kho Âm (Negative Stock)</a:t>
            </a:r>
          </a:p>
          <a:p>
            <a:pPr>
              <a:defRPr sz="1000" b="1">
                <a:solidFill>
                  <a:srgbClr val="0F172A"/>
                </a:solidFill>
                <a:latin typeface="Segoe UI"/>
              </a:defRPr>
            </a:pPr>
            <a:r>
              <a:t>• Nỗi đau thực tế: </a:t>
            </a:r>
          </a:p>
          <a:p>
            <a:pPr>
              <a:defRPr sz="950">
                <a:solidFill>
                  <a:srgbClr val="475569"/>
                </a:solidFill>
                <a:latin typeface="Segoe UI"/>
              </a:defRPr>
            </a:pPr>
            <a:r>
              <a:t>  Thủ kho xuất quá số lượng tồn thực tế hoặc race-condition do nhiều người cùng tạo phiếu xuất đồng thời.</a:t>
            </a:r>
          </a:p>
          <a:p>
            <a:pPr>
              <a:defRPr sz="1000" b="1">
                <a:solidFill>
                  <a:srgbClr val="0F172A"/>
                </a:solidFill>
                <a:latin typeface="Segoe UI"/>
              </a:defRPr>
            </a:pPr>
            <a:r>
              <a:t>• Hậu quả nghiêm trọng: </a:t>
            </a:r>
          </a:p>
          <a:p>
            <a:pPr>
              <a:defRPr sz="950">
                <a:solidFill>
                  <a:srgbClr val="475569"/>
                </a:solidFill>
                <a:latin typeface="Segoe UI"/>
              </a:defRPr>
            </a:pPr>
            <a:r>
              <a:t>  Sai lệch sổ sách kế toán, giao thiếu hàng cho đối tác, vỡ cam kết đơn hàng, thất thoát tài chính.</a:t>
            </a:r>
          </a:p>
          <a:p>
            <a:pPr>
              <a:defRPr sz="1000" b="1">
                <a:solidFill>
                  <a:srgbClr val="0F172A"/>
                </a:solidFill>
                <a:latin typeface="Segoe UI"/>
              </a:defRPr>
            </a:pPr>
            <a:r>
              <a:t>• Giải pháp Đề tài 07: </a:t>
            </a:r>
          </a:p>
          <a:p>
            <a:pPr>
              <a:defRPr sz="950">
                <a:solidFill>
                  <a:srgbClr val="475569"/>
                </a:solidFill>
                <a:latin typeface="Segoe UI"/>
              </a:defRPr>
            </a:pPr>
            <a:r>
              <a:t>  Thiết lập CHỐT CHẶN KÉP: Kiểm tra nguyên tử (Atomic Check) ở tầng Service và CheckConstraint('current_stock &gt;= 0') ở tầng đĩa CSDL.</a:t>
            </a:r>
          </a:p>
        </p:txBody>
      </p:sp>
      <p:sp>
        <p:nvSpPr>
          <p:cNvPr id="11" name="Rounded Rectangle 10"/>
          <p:cNvSpPr/>
          <p:nvPr/>
        </p:nvSpPr>
        <p:spPr>
          <a:xfrm>
            <a:off x="4389120" y="1737360"/>
            <a:ext cx="338328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000" b="1">
                <a:solidFill>
                  <a:srgbClr val="B45309"/>
                </a:solidFill>
                <a:latin typeface="Segoe UI"/>
              </a:defRPr>
            </a:pPr>
            <a:r>
              <a:t>VẤN ĐỀ 2</a:t>
            </a:r>
          </a:p>
          <a:p>
            <a:pPr>
              <a:defRPr sz="1400" b="1">
                <a:solidFill>
                  <a:srgbClr val="0F172A"/>
                </a:solidFill>
                <a:latin typeface="Segoe UI"/>
              </a:defRPr>
            </a:pPr>
            <a:r>
              <a:t>Giam Giữ Hàng Ảo (Ghost Lock)</a:t>
            </a:r>
          </a:p>
          <a:p>
            <a:pPr>
              <a:defRPr sz="1000" b="1">
                <a:solidFill>
                  <a:srgbClr val="0F172A"/>
                </a:solidFill>
                <a:latin typeface="Segoe UI"/>
              </a:defRPr>
            </a:pPr>
            <a:r>
              <a:t>• Nỗi đau thực tế: </a:t>
            </a:r>
          </a:p>
          <a:p>
            <a:pPr>
              <a:defRPr sz="950">
                <a:solidFill>
                  <a:srgbClr val="475569"/>
                </a:solidFill>
                <a:latin typeface="Segoe UI"/>
              </a:defRPr>
            </a:pPr>
            <a:r>
              <a:t>  Hệ thống cũ vừa bấm tạo đơn là lập tức trừ kho, dù hàng chưa đóng gói và chưa rời kho vật lý.</a:t>
            </a:r>
          </a:p>
          <a:p>
            <a:pPr>
              <a:defRPr sz="1000" b="1">
                <a:solidFill>
                  <a:srgbClr val="0F172A"/>
                </a:solidFill>
                <a:latin typeface="Segoe UI"/>
              </a:defRPr>
            </a:pPr>
            <a:r>
              <a:t>• Hậu quả nghiêm trọng: </a:t>
            </a:r>
          </a:p>
          <a:p>
            <a:pPr>
              <a:defRPr sz="950">
                <a:solidFill>
                  <a:srgbClr val="475569"/>
                </a:solidFill>
                <a:latin typeface="Segoe UI"/>
              </a:defRPr>
            </a:pPr>
            <a:r>
              <a:t>  Khi khách hủy đơn hoặc đơn giao thất bại, hàng bị kẹt trạng thái ảo, đơn hàng khác không thể lấy hàng để xuất.</a:t>
            </a:r>
          </a:p>
          <a:p>
            <a:pPr>
              <a:defRPr sz="1000" b="1">
                <a:solidFill>
                  <a:srgbClr val="0F172A"/>
                </a:solidFill>
                <a:latin typeface="Segoe UI"/>
              </a:defRPr>
            </a:pPr>
            <a:r>
              <a:t>• Giải pháp Đề tài 07: </a:t>
            </a:r>
          </a:p>
          <a:p>
            <a:pPr>
              <a:defRPr sz="950">
                <a:solidFill>
                  <a:srgbClr val="475569"/>
                </a:solidFill>
                <a:latin typeface="Segoe UI"/>
              </a:defRPr>
            </a:pPr>
            <a:r>
              <a:t>  CỖ MÁY TRẠNG THÁI 3 BƯỚC: Phân tách rạch ròi CONFIRMED (không giam hàng) -&gt; SHIPPING (trừ kho thực tế) -&gt; COMPLETED. Hủy đơn tự động hoàn kho 100%.</a:t>
            </a:r>
          </a:p>
        </p:txBody>
      </p:sp>
      <p:sp>
        <p:nvSpPr>
          <p:cNvPr id="12" name="Rounded Rectangle 11"/>
          <p:cNvSpPr/>
          <p:nvPr/>
        </p:nvSpPr>
        <p:spPr>
          <a:xfrm>
            <a:off x="8046720" y="1737360"/>
            <a:ext cx="338328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000" b="1">
                <a:solidFill>
                  <a:srgbClr val="0D9488"/>
                </a:solidFill>
                <a:latin typeface="Segoe UI"/>
              </a:defRPr>
            </a:pPr>
            <a:r>
              <a:t>VẤN ĐỀ 3</a:t>
            </a:r>
          </a:p>
          <a:p>
            <a:pPr>
              <a:defRPr sz="1400" b="1">
                <a:solidFill>
                  <a:srgbClr val="0F172A"/>
                </a:solidFill>
                <a:latin typeface="Segoe UI"/>
              </a:defRPr>
            </a:pPr>
            <a:r>
              <a:t>Thao Tác Nhập Liệu Chậm &amp; Dễ Sai</a:t>
            </a:r>
          </a:p>
          <a:p>
            <a:pPr>
              <a:defRPr sz="1000" b="1">
                <a:solidFill>
                  <a:srgbClr val="0F172A"/>
                </a:solidFill>
                <a:latin typeface="Segoe UI"/>
              </a:defRPr>
            </a:pPr>
            <a:r>
              <a:t>• Nỗi đau thực tế: </a:t>
            </a:r>
          </a:p>
          <a:p>
            <a:pPr>
              <a:defRPr sz="950">
                <a:solidFill>
                  <a:srgbClr val="475569"/>
                </a:solidFill>
                <a:latin typeface="Segoe UI"/>
              </a:defRPr>
            </a:pPr>
            <a:r>
              <a:t>  Bắt thủ kho phải nhớ mã SKU kỹ thuật dài dòng; dropdown chọn sản phẩm cuộn hàng trăm dòng hoa mắt mỏi tay.</a:t>
            </a:r>
          </a:p>
          <a:p>
            <a:pPr>
              <a:defRPr sz="1000" b="1">
                <a:solidFill>
                  <a:srgbClr val="0F172A"/>
                </a:solidFill>
                <a:latin typeface="Segoe UI"/>
              </a:defRPr>
            </a:pPr>
            <a:r>
              <a:t>• Hậu quả nghiêm trọng: </a:t>
            </a:r>
          </a:p>
          <a:p>
            <a:pPr>
              <a:defRPr sz="950">
                <a:solidFill>
                  <a:srgbClr val="475569"/>
                </a:solidFill>
                <a:latin typeface="Segoe UI"/>
              </a:defRPr>
            </a:pPr>
            <a:r>
              <a:t>  Tốc độ xuất nhập bị chậm, dễ chọn nhầm chủng loại hàng hóa gây sai lệch kho vật lý.</a:t>
            </a:r>
          </a:p>
          <a:p>
            <a:pPr>
              <a:defRPr sz="1000" b="1">
                <a:solidFill>
                  <a:srgbClr val="0F172A"/>
                </a:solidFill>
                <a:latin typeface="Segoe UI"/>
              </a:defRPr>
            </a:pPr>
            <a:r>
              <a:t>• Giải pháp Đề tài 07: </a:t>
            </a:r>
          </a:p>
          <a:p>
            <a:pPr>
              <a:defRPr sz="950">
                <a:solidFill>
                  <a:srgbClr val="475569"/>
                </a:solidFill>
                <a:latin typeface="Segoe UI"/>
              </a:defRPr>
            </a:pPr>
            <a:r>
              <a:t>  ĐỘT PHÁ PRODUCTSELECT: Tìm bằng chữ cái đầu (blv -&gt; Bàn Làm Việc), khử dấu tiếng Việt NFD, tự bôi đen click, ẩn SKU kỹ thuật chỉ để Tên + Số tồn.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92608"/>
          </a:xfrm>
          <a:prstGeom prst="rect">
            <a:avLst/>
          </a:prstGeom>
          <a:noFill/>
        </p:spPr>
        <p:txBody>
          <a:bodyPr wrap="square" lIns="0" tIns="0" rIns="0" bIns="0">
            <a:spAutoFit/>
          </a:bodyPr>
          <a:lstStyle/>
          <a:p>
            <a:pPr>
              <a:defRPr sz="1000" b="1">
                <a:solidFill>
                  <a:srgbClr val="B45309"/>
                </a:solidFill>
                <a:latin typeface="Segoe UI"/>
              </a:defRPr>
            </a:pPr>
            <a:r>
              <a:t>CHƯƠNG 8: THIẾT KẾ CẤU TRÚC HỆ THỐNG</a:t>
            </a:r>
          </a:p>
        </p:txBody>
      </p:sp>
      <p:sp>
        <p:nvSpPr>
          <p:cNvPr id="4" name="TextBox 3"/>
          <p:cNvSpPr txBox="1"/>
          <p:nvPr/>
        </p:nvSpPr>
        <p:spPr>
          <a:xfrm>
            <a:off x="731520" y="640080"/>
            <a:ext cx="10728655" cy="475488"/>
          </a:xfrm>
          <a:prstGeom prst="rect">
            <a:avLst/>
          </a:prstGeom>
          <a:noFill/>
        </p:spPr>
        <p:txBody>
          <a:bodyPr wrap="square" lIns="0" tIns="0" rIns="0" bIns="0">
            <a:spAutoFit/>
          </a:bodyPr>
          <a:lstStyle/>
          <a:p>
            <a:pPr>
              <a:defRPr sz="2200" b="1">
                <a:solidFill>
                  <a:srgbClr val="0F172A"/>
                </a:solidFill>
                <a:latin typeface="Segoe UI"/>
              </a:defRPr>
            </a:pPr>
            <a:r>
              <a:t>Kiến Trúc Phân Tầng 3-Tier Clean Architecture</a:t>
            </a:r>
          </a:p>
        </p:txBody>
      </p:sp>
      <p:sp>
        <p:nvSpPr>
          <p:cNvPr id="5" name="TextBox 4"/>
          <p:cNvSpPr txBox="1"/>
          <p:nvPr/>
        </p:nvSpPr>
        <p:spPr>
          <a:xfrm>
            <a:off x="731520" y="1133856"/>
            <a:ext cx="10728655" cy="320040"/>
          </a:xfrm>
          <a:prstGeom prst="rect">
            <a:avLst/>
          </a:prstGeom>
          <a:noFill/>
        </p:spPr>
        <p:txBody>
          <a:bodyPr wrap="square" lIns="0" tIns="0" rIns="0" bIns="0">
            <a:spAutoFit/>
          </a:bodyPr>
          <a:lstStyle/>
          <a:p>
            <a:pPr>
              <a:defRPr sz="1200">
                <a:solidFill>
                  <a:srgbClr val="475569"/>
                </a:solidFill>
                <a:latin typeface="Segoe UI"/>
              </a:defRPr>
            </a:pPr>
            <a:r>
              <a:t>Phân tách rạch ròi Presentation, Business Service và Persistence đảm bảo tính mở rộng cao</a:t>
            </a:r>
          </a:p>
        </p:txBody>
      </p:sp>
      <p:sp>
        <p:nvSpPr>
          <p:cNvPr id="6" name="Rectangle 5"/>
          <p:cNvSpPr/>
          <p:nvPr/>
        </p:nvSpPr>
        <p:spPr>
          <a:xfrm>
            <a:off x="731520" y="15087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400800"/>
            <a:ext cx="1072865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46520"/>
            <a:ext cx="7315200" cy="274320"/>
          </a:xfrm>
          <a:prstGeom prst="rect">
            <a:avLst/>
          </a:prstGeom>
          <a:noFill/>
        </p:spPr>
        <p:txBody>
          <a:bodyPr wrap="square" lIns="0" tIns="0" rIns="0" bIns="0">
            <a:spAutoFit/>
          </a:bodyPr>
          <a:lstStyle/>
          <a:p>
            <a:pPr>
              <a:defRPr sz="900">
                <a:solidFill>
                  <a:srgbClr val="475569"/>
                </a:solidFill>
                <a:latin typeface="Segoe UI"/>
              </a:defRPr>
            </a:pPr>
            <a:r>
              <a:t>Hệ thống Quản lý Kho Thông minh (WMS AI) — Đề tài 07 | Phiên bản chuẩn hóa 2026</a:t>
            </a:r>
          </a:p>
        </p:txBody>
      </p:sp>
      <p:sp>
        <p:nvSpPr>
          <p:cNvPr id="9" name="TextBox 8"/>
          <p:cNvSpPr txBox="1"/>
          <p:nvPr/>
        </p:nvSpPr>
        <p:spPr>
          <a:xfrm>
            <a:off x="8716975" y="6446520"/>
            <a:ext cx="2743200" cy="274320"/>
          </a:xfrm>
          <a:prstGeom prst="rect">
            <a:avLst/>
          </a:prstGeom>
          <a:noFill/>
        </p:spPr>
        <p:txBody>
          <a:bodyPr wrap="square" lIns="0" tIns="0" rIns="0" bIns="0">
            <a:spAutoFit/>
          </a:bodyPr>
          <a:lstStyle/>
          <a:p>
            <a:pPr algn="r">
              <a:defRPr sz="900" b="1">
                <a:solidFill>
                  <a:srgbClr val="B45309"/>
                </a:solidFill>
                <a:latin typeface="Segoe UI"/>
              </a:defRPr>
            </a:pPr>
            <a:r>
              <a:t>Trang 3 / 16</a:t>
            </a:r>
          </a:p>
        </p:txBody>
      </p:sp>
      <p:sp>
        <p:nvSpPr>
          <p:cNvPr id="10" name="Rounded Rectangle 9"/>
          <p:cNvSpPr/>
          <p:nvPr/>
        </p:nvSpPr>
        <p:spPr>
          <a:xfrm>
            <a:off x="731520" y="1737360"/>
            <a:ext cx="10728655" cy="1353312"/>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rIns="274320" tIns="164592"/>
          <a:lstStyle/>
          <a:p>
            <a:pPr algn="ctr">
              <a:defRPr sz="1200" b="1">
                <a:solidFill>
                  <a:srgbClr val="0284C7"/>
                </a:solidFill>
                <a:latin typeface="Segoe UI"/>
              </a:defRPr>
            </a:pPr>
            <a:r>
              <a:t>TẦNG TRÌNH DIỄN (PRESENTATION LAYER) — REACT 18 SPA &amp; VITE</a:t>
            </a:r>
          </a:p>
          <a:p>
            <a:pPr>
              <a:defRPr sz="1000">
                <a:solidFill>
                  <a:srgbClr val="0F172A"/>
                </a:solidFill>
                <a:latin typeface="Segoe UI"/>
              </a:defRPr>
            </a:pPr>
            <a:r>
              <a:t>• Công nghệ: React 18, Vite Bundler (Gzip bundle chỉ ~95KB tải tức thì), Tailwind CSS công thái học Warm Wood &amp; Slate.</a:t>
            </a:r>
            <a:br/>
            <a:r>
              <a:t>• Cấu trúc module: components/ (ProductSelect, Modal, Badge), context/ (AuthContext), pages/ (Dashboard, Import, Export, StockLedger, AI Copilot), api/ (Axios client tích hợp JWT Interceptors).</a:t>
            </a:r>
          </a:p>
        </p:txBody>
      </p:sp>
      <p:sp>
        <p:nvSpPr>
          <p:cNvPr id="11" name="Rounded Rectangle 10"/>
          <p:cNvSpPr/>
          <p:nvPr/>
        </p:nvSpPr>
        <p:spPr>
          <a:xfrm>
            <a:off x="731520" y="3246120"/>
            <a:ext cx="10728655" cy="1353312"/>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rIns="274320" tIns="164592"/>
          <a:lstStyle/>
          <a:p>
            <a:pPr algn="ctr">
              <a:defRPr sz="1200" b="1">
                <a:solidFill>
                  <a:srgbClr val="B45309"/>
                </a:solidFill>
                <a:latin typeface="Segoe UI"/>
              </a:defRPr>
            </a:pPr>
            <a:r>
              <a:t>TẦNG DỊCH VỤ NGHIỆP VỤ (BUSINESS SERVICE LAYER) — FASTAPI (PYTHON 3.14)</a:t>
            </a:r>
          </a:p>
          <a:p>
            <a:pPr>
              <a:defRPr sz="1000">
                <a:solidFill>
                  <a:srgbClr val="0F172A"/>
                </a:solidFill>
                <a:latin typeface="Segoe UI"/>
              </a:defRPr>
            </a:pPr>
            <a:r>
              <a:t>• HTTP Router: Tầng API endpoints chỉ nhận request, xác thực RBAC dependencies (deps.py) và serialize response qua Pydantic.</a:t>
            </a:r>
            <a:br/>
            <a:r>
              <a:t>• Service Modules: inventory_service.py (quản trị toàn vẹn giao dịch ACID, chống tồn âm), ai_service.py (tích hợp Google Gemini LLM), fallback_service.py (động cơ phân tích Heuristic nội tại).</a:t>
            </a:r>
          </a:p>
        </p:txBody>
      </p:sp>
      <p:sp>
        <p:nvSpPr>
          <p:cNvPr id="12" name="Rounded Rectangle 11"/>
          <p:cNvSpPr/>
          <p:nvPr/>
        </p:nvSpPr>
        <p:spPr>
          <a:xfrm>
            <a:off x="731520" y="4754880"/>
            <a:ext cx="10728655" cy="1353312"/>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74320" rIns="274320" tIns="164592"/>
          <a:lstStyle/>
          <a:p>
            <a:pPr algn="ctr">
              <a:defRPr sz="1200" b="1">
                <a:solidFill>
                  <a:srgbClr val="0D9488"/>
                </a:solidFill>
                <a:latin typeface="Segoe UI"/>
              </a:defRPr>
            </a:pPr>
            <a:r>
              <a:t>TẦNG DỮ LIỆU &amp; LƯU TRỮ (PERSISTENCE LAYER) — SQLALCHEMY &amp; CSDL 3NF</a:t>
            </a:r>
          </a:p>
          <a:p>
            <a:pPr>
              <a:defRPr sz="1000">
                <a:solidFill>
                  <a:srgbClr val="0F172A"/>
                </a:solidFill>
                <a:latin typeface="Segoe UI"/>
              </a:defRPr>
            </a:pPr>
            <a:r>
              <a:t>• Cơ chế kiểm soát: 9 bảng thực thể chuẩn 3NF, PRAGMA foreign_keys = ON, CheckConstraint('current_stock &gt;= 0') ở cấp bảng.</a:t>
            </a:r>
            <a:br/>
            <a:r>
              <a:t>• Quản lý phiên làm việc: SQLAlchemy Session tự động Rollback hoàn toàn khi gặp bất kỳ ngoại lệ nào; hỗ trợ chuyển đổi linh hoạt SQLite / PostgreSQL qua Connection Pooling.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92608"/>
          </a:xfrm>
          <a:prstGeom prst="rect">
            <a:avLst/>
          </a:prstGeom>
          <a:noFill/>
        </p:spPr>
        <p:txBody>
          <a:bodyPr wrap="square" lIns="0" tIns="0" rIns="0" bIns="0">
            <a:spAutoFit/>
          </a:bodyPr>
          <a:lstStyle/>
          <a:p>
            <a:pPr>
              <a:defRPr sz="1000" b="1">
                <a:solidFill>
                  <a:srgbClr val="B45309"/>
                </a:solidFill>
                <a:latin typeface="Segoe UI"/>
              </a:defRPr>
            </a:pPr>
            <a:r>
              <a:t>CHƯƠNG 2: NHÓM NGƯỜI DÙNG &amp; PHÂN QUYỀN</a:t>
            </a:r>
          </a:p>
        </p:txBody>
      </p:sp>
      <p:sp>
        <p:nvSpPr>
          <p:cNvPr id="4" name="TextBox 3"/>
          <p:cNvSpPr txBox="1"/>
          <p:nvPr/>
        </p:nvSpPr>
        <p:spPr>
          <a:xfrm>
            <a:off x="731520" y="640080"/>
            <a:ext cx="10728655" cy="475488"/>
          </a:xfrm>
          <a:prstGeom prst="rect">
            <a:avLst/>
          </a:prstGeom>
          <a:noFill/>
        </p:spPr>
        <p:txBody>
          <a:bodyPr wrap="square" lIns="0" tIns="0" rIns="0" bIns="0">
            <a:spAutoFit/>
          </a:bodyPr>
          <a:lstStyle/>
          <a:p>
            <a:pPr>
              <a:defRPr sz="2200" b="1">
                <a:solidFill>
                  <a:srgbClr val="0F172A"/>
                </a:solidFill>
                <a:latin typeface="Segoe UI"/>
              </a:defRPr>
            </a:pPr>
            <a:r>
              <a:t>Ma Trận Phân Quyền RBAC 3 Cấp Độ (Role-Based Access Control)</a:t>
            </a:r>
          </a:p>
        </p:txBody>
      </p:sp>
      <p:sp>
        <p:nvSpPr>
          <p:cNvPr id="5" name="TextBox 4"/>
          <p:cNvSpPr txBox="1"/>
          <p:nvPr/>
        </p:nvSpPr>
        <p:spPr>
          <a:xfrm>
            <a:off x="731520" y="1133856"/>
            <a:ext cx="10728655" cy="320040"/>
          </a:xfrm>
          <a:prstGeom prst="rect">
            <a:avLst/>
          </a:prstGeom>
          <a:noFill/>
        </p:spPr>
        <p:txBody>
          <a:bodyPr wrap="square" lIns="0" tIns="0" rIns="0" bIns="0">
            <a:spAutoFit/>
          </a:bodyPr>
          <a:lstStyle/>
          <a:p>
            <a:pPr>
              <a:defRPr sz="1200">
                <a:solidFill>
                  <a:srgbClr val="475569"/>
                </a:solidFill>
                <a:latin typeface="Segoe UI"/>
              </a:defRPr>
            </a:pPr>
            <a:r>
              <a:t>Thiết lập nguyên tắc 'Đúng người - Đúng việc' &amp; Bảo vệ an toàn dữ liệu nhạy cảm</a:t>
            </a:r>
          </a:p>
        </p:txBody>
      </p:sp>
      <p:sp>
        <p:nvSpPr>
          <p:cNvPr id="6" name="Rectangle 5"/>
          <p:cNvSpPr/>
          <p:nvPr/>
        </p:nvSpPr>
        <p:spPr>
          <a:xfrm>
            <a:off x="731520" y="15087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400800"/>
            <a:ext cx="1072865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46520"/>
            <a:ext cx="7315200" cy="274320"/>
          </a:xfrm>
          <a:prstGeom prst="rect">
            <a:avLst/>
          </a:prstGeom>
          <a:noFill/>
        </p:spPr>
        <p:txBody>
          <a:bodyPr wrap="square" lIns="0" tIns="0" rIns="0" bIns="0">
            <a:spAutoFit/>
          </a:bodyPr>
          <a:lstStyle/>
          <a:p>
            <a:pPr>
              <a:defRPr sz="900">
                <a:solidFill>
                  <a:srgbClr val="475569"/>
                </a:solidFill>
                <a:latin typeface="Segoe UI"/>
              </a:defRPr>
            </a:pPr>
            <a:r>
              <a:t>Hệ thống Quản lý Kho Thông minh (WMS AI) — Đề tài 07 | Phiên bản chuẩn hóa 2026</a:t>
            </a:r>
          </a:p>
        </p:txBody>
      </p:sp>
      <p:sp>
        <p:nvSpPr>
          <p:cNvPr id="9" name="TextBox 8"/>
          <p:cNvSpPr txBox="1"/>
          <p:nvPr/>
        </p:nvSpPr>
        <p:spPr>
          <a:xfrm>
            <a:off x="8716975" y="6446520"/>
            <a:ext cx="2743200" cy="274320"/>
          </a:xfrm>
          <a:prstGeom prst="rect">
            <a:avLst/>
          </a:prstGeom>
          <a:noFill/>
        </p:spPr>
        <p:txBody>
          <a:bodyPr wrap="square" lIns="0" tIns="0" rIns="0" bIns="0">
            <a:spAutoFit/>
          </a:bodyPr>
          <a:lstStyle/>
          <a:p>
            <a:pPr algn="r">
              <a:defRPr sz="900" b="1">
                <a:solidFill>
                  <a:srgbClr val="B45309"/>
                </a:solidFill>
                <a:latin typeface="Segoe UI"/>
              </a:defRPr>
            </a:pPr>
            <a:r>
              <a:t>Trang 4 / 16</a:t>
            </a:r>
          </a:p>
        </p:txBody>
      </p:sp>
      <p:graphicFrame>
        <p:nvGraphicFramePr>
          <p:cNvPr id="10" name="Table 9"/>
          <p:cNvGraphicFramePr>
            <a:graphicFrameLocks noGrp="1"/>
          </p:cNvGraphicFramePr>
          <p:nvPr/>
        </p:nvGraphicFramePr>
        <p:xfrm>
          <a:off x="731520" y="1737360"/>
          <a:ext cx="10728655" cy="3291840"/>
        </p:xfrm>
        <a:graphic>
          <a:graphicData uri="http://schemas.openxmlformats.org/drawingml/2006/table">
            <a:tbl>
              <a:tblPr firstRow="1" bandRow="1">
                <a:tableStyleId>{5C22544A-7EE6-4342-B048-85BDC9FD1C3A}</a:tableStyleId>
              </a:tblPr>
              <a:tblGrid>
                <a:gridCol w="3322015"/>
                <a:gridCol w="2468880"/>
                <a:gridCol w="2468880"/>
                <a:gridCol w="2468880"/>
              </a:tblGrid>
              <a:tr h="548640">
                <a:tc>
                  <a:txBody>
                    <a:bodyPr/>
                    <a:lstStyle/>
                    <a:p>
                      <a:pPr>
                        <a:defRPr sz="1050" b="1">
                          <a:solidFill>
                            <a:srgbClr val="FFFFFF"/>
                          </a:solidFill>
                          <a:latin typeface="Segoe UI"/>
                        </a:defRPr>
                      </a:pPr>
                      <a:r>
                        <a:t>Phân Hệ / Nghiệp Vụ Chức Năng</a:t>
                      </a:r>
                    </a:p>
                  </a:txBody>
                  <a:tcPr>
                    <a:solidFill>
                      <a:srgbClr val="0F172A"/>
                    </a:solidFill>
                  </a:tcPr>
                </a:tc>
                <a:tc>
                  <a:txBody>
                    <a:bodyPr/>
                    <a:lstStyle/>
                    <a:p>
                      <a:pPr>
                        <a:defRPr sz="1050" b="1">
                          <a:solidFill>
                            <a:srgbClr val="FFFFFF"/>
                          </a:solidFill>
                          <a:latin typeface="Segoe UI"/>
                        </a:defRPr>
                      </a:pPr>
                      <a:r>
                        <a:t>Quản Trị Viên (Admin)</a:t>
                      </a:r>
                    </a:p>
                  </a:txBody>
                  <a:tcPr>
                    <a:solidFill>
                      <a:srgbClr val="0F172A"/>
                    </a:solidFill>
                  </a:tcPr>
                </a:tc>
                <a:tc>
                  <a:txBody>
                    <a:bodyPr/>
                    <a:lstStyle/>
                    <a:p>
                      <a:pPr>
                        <a:defRPr sz="1050" b="1">
                          <a:solidFill>
                            <a:srgbClr val="FFFFFF"/>
                          </a:solidFill>
                          <a:latin typeface="Segoe UI"/>
                        </a:defRPr>
                      </a:pPr>
                      <a:r>
                        <a:t>Thủ Kho (Warehouse Keeper)</a:t>
                      </a:r>
                    </a:p>
                  </a:txBody>
                  <a:tcPr>
                    <a:solidFill>
                      <a:srgbClr val="0F172A"/>
                    </a:solidFill>
                  </a:tcPr>
                </a:tc>
                <a:tc>
                  <a:txBody>
                    <a:bodyPr/>
                    <a:lstStyle/>
                    <a:p>
                      <a:pPr>
                        <a:defRPr sz="1050" b="1">
                          <a:solidFill>
                            <a:srgbClr val="FFFFFF"/>
                          </a:solidFill>
                          <a:latin typeface="Segoe UI"/>
                        </a:defRPr>
                      </a:pPr>
                      <a:r>
                        <a:t>Kế Toán (Accountant)</a:t>
                      </a:r>
                    </a:p>
                  </a:txBody>
                  <a:tcPr>
                    <a:solidFill>
                      <a:srgbClr val="0F172A"/>
                    </a:solidFill>
                  </a:tcPr>
                </a:tc>
              </a:tr>
              <a:tr h="548640">
                <a:tc>
                  <a:txBody>
                    <a:bodyPr/>
                    <a:lstStyle/>
                    <a:p>
                      <a:pPr>
                        <a:defRPr sz="1050" b="1">
                          <a:solidFill>
                            <a:srgbClr val="0F172A"/>
                          </a:solidFill>
                          <a:latin typeface="Segoe UI"/>
                        </a:defRPr>
                      </a:pPr>
                      <a:r>
                        <a:t>Quản lý người dùng &amp; Cấu hình AI</a:t>
                      </a:r>
                    </a:p>
                  </a:txBody>
                  <a:tcPr>
                    <a:solidFill>
                      <a:srgbClr val="F1F5F9"/>
                    </a:solidFill>
                  </a:tcPr>
                </a:tc>
                <a:tc>
                  <a:txBody>
                    <a:bodyPr/>
                    <a:lstStyle/>
                    <a:p>
                      <a:pPr>
                        <a:defRPr sz="1050" b="1">
                          <a:solidFill>
                            <a:srgbClr val="B45309"/>
                          </a:solidFill>
                          <a:latin typeface="Segoe UI"/>
                        </a:defRPr>
                      </a:pPr>
                      <a:r>
                        <a:t>Toàn quyền (CRUD)</a:t>
                      </a:r>
                    </a:p>
                  </a:txBody>
                  <a:tcPr>
                    <a:solidFill>
                      <a:srgbClr val="FFFFFF"/>
                    </a:solidFill>
                  </a:tcPr>
                </a:tc>
                <a:tc>
                  <a:txBody>
                    <a:bodyPr/>
                    <a:lstStyle/>
                    <a:p>
                      <a:pPr>
                        <a:defRPr sz="1050">
                          <a:solidFill>
                            <a:srgbClr val="EF4444"/>
                          </a:solidFill>
                          <a:latin typeface="Segoe UI"/>
                        </a:defRPr>
                      </a:pPr>
                      <a:r>
                        <a:t>Không có quyền</a:t>
                      </a:r>
                    </a:p>
                  </a:txBody>
                  <a:tcPr>
                    <a:solidFill>
                      <a:srgbClr val="FFFFFF"/>
                    </a:solidFill>
                  </a:tcPr>
                </a:tc>
                <a:tc>
                  <a:txBody>
                    <a:bodyPr/>
                    <a:lstStyle/>
                    <a:p>
                      <a:pPr>
                        <a:defRPr sz="1050">
                          <a:solidFill>
                            <a:srgbClr val="EF4444"/>
                          </a:solidFill>
                          <a:latin typeface="Segoe UI"/>
                        </a:defRPr>
                      </a:pPr>
                      <a:r>
                        <a:t>Không có quyền</a:t>
                      </a:r>
                    </a:p>
                  </a:txBody>
                  <a:tcPr>
                    <a:solidFill>
                      <a:srgbClr val="FFFFFF"/>
                    </a:solidFill>
                  </a:tcPr>
                </a:tc>
              </a:tr>
              <a:tr h="548640">
                <a:tc>
                  <a:txBody>
                    <a:bodyPr/>
                    <a:lstStyle/>
                    <a:p>
                      <a:pPr>
                        <a:defRPr sz="1050" b="1">
                          <a:solidFill>
                            <a:srgbClr val="0F172A"/>
                          </a:solidFill>
                          <a:latin typeface="Segoe UI"/>
                        </a:defRPr>
                      </a:pPr>
                      <a:r>
                        <a:t>Danh mục hàng hóa &amp; Nhà cung cấp</a:t>
                      </a:r>
                    </a:p>
                  </a:txBody>
                  <a:tcPr>
                    <a:solidFill>
                      <a:srgbClr val="F1F5F9"/>
                    </a:solidFill>
                  </a:tcPr>
                </a:tc>
                <a:tc>
                  <a:txBody>
                    <a:bodyPr/>
                    <a:lstStyle/>
                    <a:p>
                      <a:pPr>
                        <a:defRPr sz="1050" b="1">
                          <a:solidFill>
                            <a:srgbClr val="B45309"/>
                          </a:solidFill>
                          <a:latin typeface="Segoe UI"/>
                        </a:defRPr>
                      </a:pPr>
                      <a:r>
                        <a:t>Toàn quyền (CRUD)</a:t>
                      </a:r>
                    </a:p>
                  </a:txBody>
                  <a:tcPr>
                    <a:solidFill>
                      <a:srgbClr val="FFFFFF"/>
                    </a:solidFill>
                  </a:tcPr>
                </a:tc>
                <a:tc>
                  <a:txBody>
                    <a:bodyPr/>
                    <a:lstStyle/>
                    <a:p>
                      <a:pPr>
                        <a:defRPr sz="1050" b="1">
                          <a:solidFill>
                            <a:srgbClr val="B45309"/>
                          </a:solidFill>
                          <a:latin typeface="Segoe UI"/>
                        </a:defRPr>
                      </a:pPr>
                      <a:r>
                        <a:t>Toàn quyền (CRUD)</a:t>
                      </a:r>
                    </a:p>
                  </a:txBody>
                  <a:tcPr>
                    <a:solidFill>
                      <a:srgbClr val="FFFFFF"/>
                    </a:solidFill>
                  </a:tcPr>
                </a:tc>
                <a:tc>
                  <a:txBody>
                    <a:bodyPr/>
                    <a:lstStyle/>
                    <a:p>
                      <a:pPr>
                        <a:defRPr sz="1050" b="1">
                          <a:solidFill>
                            <a:srgbClr val="0D9488"/>
                          </a:solidFill>
                          <a:latin typeface="Segoe UI"/>
                        </a:defRPr>
                      </a:pPr>
                      <a:r>
                        <a:t>Chỉ xem (Read Only)</a:t>
                      </a:r>
                    </a:p>
                  </a:txBody>
                  <a:tcPr>
                    <a:solidFill>
                      <a:srgbClr val="FFFFFF"/>
                    </a:solidFill>
                  </a:tcPr>
                </a:tc>
              </a:tr>
              <a:tr h="548640">
                <a:tc>
                  <a:txBody>
                    <a:bodyPr/>
                    <a:lstStyle/>
                    <a:p>
                      <a:pPr>
                        <a:defRPr sz="1050" b="1">
                          <a:solidFill>
                            <a:srgbClr val="0F172A"/>
                          </a:solidFill>
                          <a:latin typeface="Segoe UI"/>
                        </a:defRPr>
                      </a:pPr>
                      <a:r>
                        <a:t>Lập phiếu nhập &amp; Lập phiếu xuất</a:t>
                      </a:r>
                    </a:p>
                  </a:txBody>
                  <a:tcPr>
                    <a:solidFill>
                      <a:srgbClr val="F1F5F9"/>
                    </a:solidFill>
                  </a:tcPr>
                </a:tc>
                <a:tc>
                  <a:txBody>
                    <a:bodyPr/>
                    <a:lstStyle/>
                    <a:p>
                      <a:pPr>
                        <a:defRPr sz="1050" b="1">
                          <a:solidFill>
                            <a:srgbClr val="B45309"/>
                          </a:solidFill>
                          <a:latin typeface="Segoe UI"/>
                        </a:defRPr>
                      </a:pPr>
                      <a:r>
                        <a:t>Toàn quyền thao tác</a:t>
                      </a:r>
                    </a:p>
                  </a:txBody>
                  <a:tcPr>
                    <a:solidFill>
                      <a:srgbClr val="FFFFFF"/>
                    </a:solidFill>
                  </a:tcPr>
                </a:tc>
                <a:tc>
                  <a:txBody>
                    <a:bodyPr/>
                    <a:lstStyle/>
                    <a:p>
                      <a:pPr>
                        <a:defRPr sz="1050" b="1">
                          <a:solidFill>
                            <a:srgbClr val="B45309"/>
                          </a:solidFill>
                          <a:latin typeface="Segoe UI"/>
                        </a:defRPr>
                      </a:pPr>
                      <a:r>
                        <a:t>Toàn quyền thao tác</a:t>
                      </a:r>
                    </a:p>
                  </a:txBody>
                  <a:tcPr>
                    <a:solidFill>
                      <a:srgbClr val="FFFFFF"/>
                    </a:solidFill>
                  </a:tcPr>
                </a:tc>
                <a:tc>
                  <a:txBody>
                    <a:bodyPr/>
                    <a:lstStyle/>
                    <a:p>
                      <a:pPr>
                        <a:defRPr sz="1050">
                          <a:solidFill>
                            <a:srgbClr val="EF4444"/>
                          </a:solidFill>
                          <a:latin typeface="Segoe UI"/>
                        </a:defRPr>
                      </a:pPr>
                      <a:r>
                        <a:t>Không có quyền tạo / sửa</a:t>
                      </a:r>
                    </a:p>
                  </a:txBody>
                  <a:tcPr>
                    <a:solidFill>
                      <a:srgbClr val="FFFFFF"/>
                    </a:solidFill>
                  </a:tcPr>
                </a:tc>
              </a:tr>
              <a:tr h="548640">
                <a:tc>
                  <a:txBody>
                    <a:bodyPr/>
                    <a:lstStyle/>
                    <a:p>
                      <a:pPr>
                        <a:defRPr sz="1050" b="1">
                          <a:solidFill>
                            <a:srgbClr val="0F172A"/>
                          </a:solidFill>
                          <a:latin typeface="Segoe UI"/>
                        </a:defRPr>
                      </a:pPr>
                      <a:r>
                        <a:t>Kiểm kê bù trừ kho (Stock Adjust)</a:t>
                      </a:r>
                    </a:p>
                  </a:txBody>
                  <a:tcPr>
                    <a:solidFill>
                      <a:srgbClr val="F1F5F9"/>
                    </a:solidFill>
                  </a:tcPr>
                </a:tc>
                <a:tc>
                  <a:txBody>
                    <a:bodyPr/>
                    <a:lstStyle/>
                    <a:p>
                      <a:pPr>
                        <a:defRPr sz="1050" b="1">
                          <a:solidFill>
                            <a:srgbClr val="B45309"/>
                          </a:solidFill>
                          <a:latin typeface="Segoe UI"/>
                        </a:defRPr>
                      </a:pPr>
                      <a:r>
                        <a:t>Toàn quyền thực hiện</a:t>
                      </a:r>
                    </a:p>
                  </a:txBody>
                  <a:tcPr>
                    <a:solidFill>
                      <a:srgbClr val="FFFFFF"/>
                    </a:solidFill>
                  </a:tcPr>
                </a:tc>
                <a:tc>
                  <a:txBody>
                    <a:bodyPr/>
                    <a:lstStyle/>
                    <a:p>
                      <a:pPr>
                        <a:defRPr sz="1050" b="1">
                          <a:solidFill>
                            <a:srgbClr val="B45309"/>
                          </a:solidFill>
                          <a:latin typeface="Segoe UI"/>
                        </a:defRPr>
                      </a:pPr>
                      <a:r>
                        <a:t>Toàn quyền thực hiện</a:t>
                      </a:r>
                    </a:p>
                  </a:txBody>
                  <a:tcPr>
                    <a:solidFill>
                      <a:srgbClr val="FFFFFF"/>
                    </a:solidFill>
                  </a:tcPr>
                </a:tc>
                <a:tc>
                  <a:txBody>
                    <a:bodyPr/>
                    <a:lstStyle/>
                    <a:p>
                      <a:pPr>
                        <a:defRPr sz="1050">
                          <a:solidFill>
                            <a:srgbClr val="EF4444"/>
                          </a:solidFill>
                          <a:latin typeface="Segoe UI"/>
                        </a:defRPr>
                      </a:pPr>
                      <a:r>
                        <a:t>Không có quyền thực hiện</a:t>
                      </a:r>
                    </a:p>
                  </a:txBody>
                  <a:tcPr>
                    <a:solidFill>
                      <a:srgbClr val="FFFFFF"/>
                    </a:solidFill>
                  </a:tcPr>
                </a:tc>
              </a:tr>
              <a:tr h="548640">
                <a:tc>
                  <a:txBody>
                    <a:bodyPr/>
                    <a:lstStyle/>
                    <a:p>
                      <a:pPr>
                        <a:defRPr sz="1050" b="1">
                          <a:solidFill>
                            <a:srgbClr val="0F172A"/>
                          </a:solidFill>
                          <a:latin typeface="Segoe UI"/>
                        </a:defRPr>
                      </a:pPr>
                      <a:r>
                        <a:t>Sổ cái thẻ kho &amp; Báo cáo tổng hợp</a:t>
                      </a:r>
                    </a:p>
                  </a:txBody>
                  <a:tcPr>
                    <a:solidFill>
                      <a:srgbClr val="F1F5F9"/>
                    </a:solidFill>
                  </a:tcPr>
                </a:tc>
                <a:tc>
                  <a:txBody>
                    <a:bodyPr/>
                    <a:lstStyle/>
                    <a:p>
                      <a:pPr>
                        <a:defRPr sz="1050" b="1">
                          <a:solidFill>
                            <a:srgbClr val="B45309"/>
                          </a:solidFill>
                          <a:latin typeface="Segoe UI"/>
                        </a:defRPr>
                      </a:pPr>
                      <a:r>
                        <a:t>Toàn quyền xem / xuất</a:t>
                      </a:r>
                    </a:p>
                  </a:txBody>
                  <a:tcPr>
                    <a:solidFill>
                      <a:srgbClr val="FFFFFF"/>
                    </a:solidFill>
                  </a:tcPr>
                </a:tc>
                <a:tc>
                  <a:txBody>
                    <a:bodyPr/>
                    <a:lstStyle/>
                    <a:p>
                      <a:pPr>
                        <a:defRPr sz="1050" b="1">
                          <a:solidFill>
                            <a:srgbClr val="0D9488"/>
                          </a:solidFill>
                          <a:latin typeface="Segoe UI"/>
                        </a:defRPr>
                      </a:pPr>
                      <a:r>
                        <a:t>Xem thẻ kho chi tiết</a:t>
                      </a:r>
                    </a:p>
                  </a:txBody>
                  <a:tcPr>
                    <a:solidFill>
                      <a:srgbClr val="FFFFFF"/>
                    </a:solidFill>
                  </a:tcPr>
                </a:tc>
                <a:tc>
                  <a:txBody>
                    <a:bodyPr/>
                    <a:lstStyle/>
                    <a:p>
                      <a:pPr>
                        <a:defRPr sz="1050" b="1">
                          <a:solidFill>
                            <a:srgbClr val="B45309"/>
                          </a:solidFill>
                          <a:latin typeface="Segoe UI"/>
                        </a:defRPr>
                      </a:pPr>
                      <a:r>
                        <a:t>Toàn quyền đối soát &amp; báo cáo</a:t>
                      </a:r>
                    </a:p>
                  </a:txBody>
                  <a:tcPr>
                    <a:solidFill>
                      <a:srgbClr val="FFFFFF"/>
                    </a:solidFill>
                  </a:tcPr>
                </a:tc>
              </a:tr>
            </a:tbl>
          </a:graphicData>
        </a:graphic>
      </p:graphicFrame>
      <p:sp>
        <p:nvSpPr>
          <p:cNvPr id="11" name="Rounded Rectangle 10"/>
          <p:cNvSpPr/>
          <p:nvPr/>
        </p:nvSpPr>
        <p:spPr>
          <a:xfrm>
            <a:off x="731520" y="5166360"/>
            <a:ext cx="10728655" cy="1051560"/>
          </a:xfrm>
          <a:prstGeom prst="roundRect">
            <a:avLst/>
          </a:prstGeom>
          <a:solidFill>
            <a:srgbClr val="FEF3C7"/>
          </a:solidFill>
          <a:ln w="1524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lIns="228600" rIns="228600" tIns="137160"/>
          <a:lstStyle/>
          <a:p>
            <a:pPr algn="ctr">
              <a:defRPr sz="1050" b="1">
                <a:solidFill>
                  <a:srgbClr val="B45309"/>
                </a:solidFill>
                <a:latin typeface="Segoe UI"/>
              </a:defRPr>
            </a:pPr>
            <a:r>
              <a:t>📌 NGUYÊN TẮC BẢO MẬT &amp; PHÂN TÁCH TRÁCH NHIỆM (SEPARATION OF CONCERNS)</a:t>
            </a:r>
          </a:p>
          <a:p>
            <a:pPr>
              <a:defRPr sz="950">
                <a:solidFill>
                  <a:srgbClr val="0F172A"/>
                </a:solidFill>
                <a:latin typeface="Segoe UI"/>
              </a:defRPr>
            </a:pPr>
            <a:r>
              <a:t>• Thủ kho chịu trách nhiệm vật lý về hàng hóa: Không nhìn thấy giá vốn nhạy cảm của doanh nghiệp trên giao diện để tránh rò rỉ thông tin.</a:t>
            </a:r>
            <a:br/>
            <a:r>
              <a:t>• Kế toán chịu trách nhiệm số liệu tài chính: Không can thiệp sửa đổi kho vật lý nhưng có toàn quyền đối soát lịch sử biến động Thẻ kho 100% minh bạch.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92608"/>
          </a:xfrm>
          <a:prstGeom prst="rect">
            <a:avLst/>
          </a:prstGeom>
          <a:noFill/>
        </p:spPr>
        <p:txBody>
          <a:bodyPr wrap="square" lIns="0" tIns="0" rIns="0" bIns="0">
            <a:spAutoFit/>
          </a:bodyPr>
          <a:lstStyle/>
          <a:p>
            <a:pPr>
              <a:defRPr sz="1000" b="1">
                <a:solidFill>
                  <a:srgbClr val="B45309"/>
                </a:solidFill>
                <a:latin typeface="Segoe UI"/>
              </a:defRPr>
            </a:pPr>
            <a:r>
              <a:t>CHƯƠNG 3 &amp; 5: NGHIỆP VỤ CỐT LÕI</a:t>
            </a:r>
          </a:p>
        </p:txBody>
      </p:sp>
      <p:sp>
        <p:nvSpPr>
          <p:cNvPr id="4" name="TextBox 3"/>
          <p:cNvSpPr txBox="1"/>
          <p:nvPr/>
        </p:nvSpPr>
        <p:spPr>
          <a:xfrm>
            <a:off x="731520" y="640080"/>
            <a:ext cx="10728655" cy="475488"/>
          </a:xfrm>
          <a:prstGeom prst="rect">
            <a:avLst/>
          </a:prstGeom>
          <a:noFill/>
        </p:spPr>
        <p:txBody>
          <a:bodyPr wrap="square" lIns="0" tIns="0" rIns="0" bIns="0">
            <a:spAutoFit/>
          </a:bodyPr>
          <a:lstStyle/>
          <a:p>
            <a:pPr>
              <a:defRPr sz="2200" b="1">
                <a:solidFill>
                  <a:srgbClr val="0F172A"/>
                </a:solidFill>
                <a:latin typeface="Segoe UI"/>
              </a:defRPr>
            </a:pPr>
            <a:r>
              <a:t>Quy Trình Nghiệp Vụ Nhập Kho &amp; Giao Dịch ACID</a:t>
            </a:r>
          </a:p>
        </p:txBody>
      </p:sp>
      <p:sp>
        <p:nvSpPr>
          <p:cNvPr id="5" name="TextBox 4"/>
          <p:cNvSpPr txBox="1"/>
          <p:nvPr/>
        </p:nvSpPr>
        <p:spPr>
          <a:xfrm>
            <a:off x="731520" y="1133856"/>
            <a:ext cx="10728655" cy="320040"/>
          </a:xfrm>
          <a:prstGeom prst="rect">
            <a:avLst/>
          </a:prstGeom>
          <a:noFill/>
        </p:spPr>
        <p:txBody>
          <a:bodyPr wrap="square" lIns="0" tIns="0" rIns="0" bIns="0">
            <a:spAutoFit/>
          </a:bodyPr>
          <a:lstStyle/>
          <a:p>
            <a:pPr>
              <a:defRPr sz="1200">
                <a:solidFill>
                  <a:srgbClr val="475569"/>
                </a:solidFill>
                <a:latin typeface="Segoe UI"/>
              </a:defRPr>
            </a:pPr>
            <a:r>
              <a:t>Chu trình 5 bước bảo đảm tính toàn vẹn tuyệt đối giữa Chứng từ, Tồn kho và Thẻ kho</a:t>
            </a:r>
          </a:p>
        </p:txBody>
      </p:sp>
      <p:sp>
        <p:nvSpPr>
          <p:cNvPr id="6" name="Rectangle 5"/>
          <p:cNvSpPr/>
          <p:nvPr/>
        </p:nvSpPr>
        <p:spPr>
          <a:xfrm>
            <a:off x="731520" y="15087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400800"/>
            <a:ext cx="1072865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46520"/>
            <a:ext cx="7315200" cy="274320"/>
          </a:xfrm>
          <a:prstGeom prst="rect">
            <a:avLst/>
          </a:prstGeom>
          <a:noFill/>
        </p:spPr>
        <p:txBody>
          <a:bodyPr wrap="square" lIns="0" tIns="0" rIns="0" bIns="0">
            <a:spAutoFit/>
          </a:bodyPr>
          <a:lstStyle/>
          <a:p>
            <a:pPr>
              <a:defRPr sz="900">
                <a:solidFill>
                  <a:srgbClr val="475569"/>
                </a:solidFill>
                <a:latin typeface="Segoe UI"/>
              </a:defRPr>
            </a:pPr>
            <a:r>
              <a:t>Hệ thống Quản lý Kho Thông minh (WMS AI) — Đề tài 07 | Phiên bản chuẩn hóa 2026</a:t>
            </a:r>
          </a:p>
        </p:txBody>
      </p:sp>
      <p:sp>
        <p:nvSpPr>
          <p:cNvPr id="9" name="TextBox 8"/>
          <p:cNvSpPr txBox="1"/>
          <p:nvPr/>
        </p:nvSpPr>
        <p:spPr>
          <a:xfrm>
            <a:off x="8716975" y="6446520"/>
            <a:ext cx="2743200" cy="274320"/>
          </a:xfrm>
          <a:prstGeom prst="rect">
            <a:avLst/>
          </a:prstGeom>
          <a:noFill/>
        </p:spPr>
        <p:txBody>
          <a:bodyPr wrap="square" lIns="0" tIns="0" rIns="0" bIns="0">
            <a:spAutoFit/>
          </a:bodyPr>
          <a:lstStyle/>
          <a:p>
            <a:pPr algn="r">
              <a:defRPr sz="900" b="1">
                <a:solidFill>
                  <a:srgbClr val="B45309"/>
                </a:solidFill>
                <a:latin typeface="Segoe UI"/>
              </a:defRPr>
            </a:pPr>
            <a:r>
              <a:t>Trang 5 / 16</a:t>
            </a:r>
          </a:p>
        </p:txBody>
      </p:sp>
      <p:sp>
        <p:nvSpPr>
          <p:cNvPr id="10" name="Rounded Rectangle 9"/>
          <p:cNvSpPr/>
          <p:nvPr/>
        </p:nvSpPr>
        <p:spPr>
          <a:xfrm>
            <a:off x="731520" y="1737360"/>
            <a:ext cx="2039112"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64592" rIns="164592" tIns="182880"/>
          <a:lstStyle/>
          <a:p>
            <a:pPr algn="ctr">
              <a:defRPr sz="1000" b="1">
                <a:solidFill>
                  <a:srgbClr val="B45309"/>
                </a:solidFill>
                <a:latin typeface="Segoe UI"/>
              </a:defRPr>
            </a:pPr>
            <a:r>
              <a:t>BƯỚC 1: KHỞI TẠO</a:t>
            </a:r>
          </a:p>
          <a:p>
            <a:pPr>
              <a:defRPr sz="1200" b="1">
                <a:solidFill>
                  <a:srgbClr val="0F172A"/>
                </a:solidFill>
                <a:latin typeface="Segoe UI"/>
              </a:defRPr>
            </a:pPr>
            <a:r>
              <a:t>Client gửi POST /import-notes</a:t>
            </a:r>
          </a:p>
          <a:p>
            <a:pPr>
              <a:defRPr sz="800">
                <a:solidFill>
                  <a:srgbClr val="E2E8F0"/>
                </a:solidFill>
              </a:defRPr>
            </a:pPr>
            <a:r>
              <a:t>——————————</a:t>
            </a:r>
          </a:p>
          <a:p>
            <a:pPr>
              <a:defRPr sz="950">
                <a:solidFill>
                  <a:srgbClr val="475569"/>
                </a:solidFill>
                <a:latin typeface="Segoe UI"/>
              </a:defRPr>
            </a:pPr>
            <a:r>
              <a:t>Thủ kho chọn nhà cung cấp, chọn sản phẩm, nhập số lượng &amp; đơn giá thực tế. Gửi kèm JWT Bearer.</a:t>
            </a:r>
          </a:p>
        </p:txBody>
      </p:sp>
      <p:sp>
        <p:nvSpPr>
          <p:cNvPr id="11" name="Rounded Rectangle 10"/>
          <p:cNvSpPr/>
          <p:nvPr/>
        </p:nvSpPr>
        <p:spPr>
          <a:xfrm>
            <a:off x="2898648" y="1737360"/>
            <a:ext cx="2039112"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64592" rIns="164592" tIns="182880"/>
          <a:lstStyle/>
          <a:p>
            <a:pPr algn="ctr">
              <a:defRPr sz="1000" b="1">
                <a:solidFill>
                  <a:srgbClr val="B45309"/>
                </a:solidFill>
                <a:latin typeface="Segoe UI"/>
              </a:defRPr>
            </a:pPr>
            <a:r>
              <a:t>BƯỚC 2: XÁC THỰC</a:t>
            </a:r>
          </a:p>
          <a:p>
            <a:pPr>
              <a:defRPr sz="1200" b="1">
                <a:solidFill>
                  <a:srgbClr val="0F172A"/>
                </a:solidFill>
                <a:latin typeface="Segoe UI"/>
              </a:defRPr>
            </a:pPr>
            <a:r>
              <a:t>API Gateway &amp; RBAC</a:t>
            </a:r>
          </a:p>
          <a:p>
            <a:pPr>
              <a:defRPr sz="800">
                <a:solidFill>
                  <a:srgbClr val="E2E8F0"/>
                </a:solidFill>
              </a:defRPr>
            </a:pPr>
            <a:r>
              <a:t>——————————</a:t>
            </a:r>
          </a:p>
          <a:p>
            <a:pPr>
              <a:defRPr sz="950">
                <a:solidFill>
                  <a:srgbClr val="475569"/>
                </a:solidFill>
                <a:latin typeface="Segoe UI"/>
              </a:defRPr>
            </a:pPr>
            <a:r>
              <a:t>deps.py kiểm tra Bearer Token, kiểm tra quyền Thủ kho/Admin. Nếu hợp lệ, chuyển giao cho inventory_service.</a:t>
            </a:r>
          </a:p>
        </p:txBody>
      </p:sp>
      <p:sp>
        <p:nvSpPr>
          <p:cNvPr id="12" name="Rounded Rectangle 11"/>
          <p:cNvSpPr/>
          <p:nvPr/>
        </p:nvSpPr>
        <p:spPr>
          <a:xfrm>
            <a:off x="5065776" y="1737360"/>
            <a:ext cx="2039112"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64592" rIns="164592" tIns="182880"/>
          <a:lstStyle/>
          <a:p>
            <a:pPr algn="ctr">
              <a:defRPr sz="1000" b="1">
                <a:solidFill>
                  <a:srgbClr val="B45309"/>
                </a:solidFill>
                <a:latin typeface="Segoe UI"/>
              </a:defRPr>
            </a:pPr>
            <a:r>
              <a:t>BƯỚC 3: MỞ TRANSACTION</a:t>
            </a:r>
          </a:p>
          <a:p>
            <a:pPr>
              <a:defRPr sz="1200" b="1">
                <a:solidFill>
                  <a:srgbClr val="0F172A"/>
                </a:solidFill>
                <a:latin typeface="Segoe UI"/>
              </a:defRPr>
            </a:pPr>
            <a:r>
              <a:t>Mã phiếu PN-YYYYMMDD-XXXX</a:t>
            </a:r>
          </a:p>
          <a:p>
            <a:pPr>
              <a:defRPr sz="800">
                <a:solidFill>
                  <a:srgbClr val="E2E8F0"/>
                </a:solidFill>
              </a:defRPr>
            </a:pPr>
            <a:r>
              <a:t>——————————</a:t>
            </a:r>
          </a:p>
          <a:p>
            <a:pPr>
              <a:defRPr sz="950">
                <a:solidFill>
                  <a:srgbClr val="475569"/>
                </a:solidFill>
                <a:latin typeface="Segoe UI"/>
              </a:defRPr>
            </a:pPr>
            <a:r>
              <a:t>Mở Database Transaction nguyên tử. Tự sinh mã phiếu chuẩn hóa duy nhất chống trùng lặp.</a:t>
            </a:r>
          </a:p>
        </p:txBody>
      </p:sp>
      <p:sp>
        <p:nvSpPr>
          <p:cNvPr id="13" name="Rounded Rectangle 12"/>
          <p:cNvSpPr/>
          <p:nvPr/>
        </p:nvSpPr>
        <p:spPr>
          <a:xfrm>
            <a:off x="7232904" y="1737360"/>
            <a:ext cx="2039112"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64592" rIns="164592" tIns="182880"/>
          <a:lstStyle/>
          <a:p>
            <a:pPr algn="ctr">
              <a:defRPr sz="1000" b="1">
                <a:solidFill>
                  <a:srgbClr val="B45309"/>
                </a:solidFill>
                <a:latin typeface="Segoe UI"/>
              </a:defRPr>
            </a:pPr>
            <a:r>
              <a:t>BƯỚC 4: TĂNG TỒN &amp; SỔ CÁI</a:t>
            </a:r>
          </a:p>
          <a:p>
            <a:pPr>
              <a:defRPr sz="1200" b="1">
                <a:solidFill>
                  <a:srgbClr val="0F172A"/>
                </a:solidFill>
                <a:latin typeface="Segoe UI"/>
              </a:defRPr>
            </a:pPr>
            <a:r>
              <a:t>Cập nhật Current Stock &amp; Thẻ kho</a:t>
            </a:r>
          </a:p>
          <a:p>
            <a:pPr>
              <a:defRPr sz="800">
                <a:solidFill>
                  <a:srgbClr val="E2E8F0"/>
                </a:solidFill>
              </a:defRPr>
            </a:pPr>
            <a:r>
              <a:t>——————————</a:t>
            </a:r>
          </a:p>
          <a:p>
            <a:pPr>
              <a:defRPr sz="950">
                <a:solidFill>
                  <a:srgbClr val="475569"/>
                </a:solidFill>
                <a:latin typeface="Segoe UI"/>
              </a:defRPr>
            </a:pPr>
            <a:r>
              <a:t>Ghi ImportNote &amp; Details (lưu giá vốn đợt nhập). Tăng current_stock và tạo bản ghi StockLedger(+qty).</a:t>
            </a:r>
          </a:p>
        </p:txBody>
      </p:sp>
      <p:sp>
        <p:nvSpPr>
          <p:cNvPr id="14" name="Rounded Rectangle 13"/>
          <p:cNvSpPr/>
          <p:nvPr/>
        </p:nvSpPr>
        <p:spPr>
          <a:xfrm>
            <a:off x="9400032" y="1737360"/>
            <a:ext cx="2039112"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64592" rIns="164592" tIns="182880"/>
          <a:lstStyle/>
          <a:p>
            <a:pPr algn="ctr">
              <a:defRPr sz="1000" b="1">
                <a:solidFill>
                  <a:srgbClr val="B45309"/>
                </a:solidFill>
                <a:latin typeface="Segoe UI"/>
              </a:defRPr>
            </a:pPr>
            <a:r>
              <a:t>BƯỚC 5: COMMIT DỮ LIỆU</a:t>
            </a:r>
          </a:p>
          <a:p>
            <a:pPr>
              <a:defRPr sz="1200" b="1">
                <a:solidFill>
                  <a:srgbClr val="0F172A"/>
                </a:solidFill>
                <a:latin typeface="Segoe UI"/>
              </a:defRPr>
            </a:pPr>
            <a:r>
              <a:t>Cam kết giao dịch thành công</a:t>
            </a:r>
          </a:p>
          <a:p>
            <a:pPr>
              <a:defRPr sz="800">
                <a:solidFill>
                  <a:srgbClr val="E2E8F0"/>
                </a:solidFill>
              </a:defRPr>
            </a:pPr>
            <a:r>
              <a:t>——————————</a:t>
            </a:r>
          </a:p>
          <a:p>
            <a:pPr>
              <a:defRPr sz="950">
                <a:solidFill>
                  <a:srgbClr val="475569"/>
                </a:solidFill>
                <a:latin typeface="Segoe UI"/>
              </a:defRPr>
            </a:pPr>
            <a:r>
              <a:t>COMMIT Transaction. Trả về HTTP 201 Created. Nếu bất kỳ bước nào lỗi -&gt; Tự động Rollback 100%.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92608"/>
          </a:xfrm>
          <a:prstGeom prst="rect">
            <a:avLst/>
          </a:prstGeom>
          <a:noFill/>
        </p:spPr>
        <p:txBody>
          <a:bodyPr wrap="square" lIns="0" tIns="0" rIns="0" bIns="0">
            <a:spAutoFit/>
          </a:bodyPr>
          <a:lstStyle/>
          <a:p>
            <a:pPr>
              <a:defRPr sz="1000" b="1">
                <a:solidFill>
                  <a:srgbClr val="B45309"/>
                </a:solidFill>
                <a:latin typeface="Segoe UI"/>
              </a:defRPr>
            </a:pPr>
            <a:r>
              <a:t>CHƯƠNG 3 &amp; 5: ĐỘT PHÁ NGHIỆP VỤ</a:t>
            </a:r>
          </a:p>
        </p:txBody>
      </p:sp>
      <p:sp>
        <p:nvSpPr>
          <p:cNvPr id="4" name="TextBox 3"/>
          <p:cNvSpPr txBox="1"/>
          <p:nvPr/>
        </p:nvSpPr>
        <p:spPr>
          <a:xfrm>
            <a:off x="731520" y="640080"/>
            <a:ext cx="10728655" cy="475488"/>
          </a:xfrm>
          <a:prstGeom prst="rect">
            <a:avLst/>
          </a:prstGeom>
          <a:noFill/>
        </p:spPr>
        <p:txBody>
          <a:bodyPr wrap="square" lIns="0" tIns="0" rIns="0" bIns="0">
            <a:spAutoFit/>
          </a:bodyPr>
          <a:lstStyle/>
          <a:p>
            <a:pPr>
              <a:defRPr sz="2200" b="1">
                <a:solidFill>
                  <a:srgbClr val="0F172A"/>
                </a:solidFill>
                <a:latin typeface="Segoe UI"/>
              </a:defRPr>
            </a:pPr>
            <a:r>
              <a:t>Cỗ Máy Trạng Thái Xuất Kho 3 Bước (3-Stage State Machine)</a:t>
            </a:r>
          </a:p>
        </p:txBody>
      </p:sp>
      <p:sp>
        <p:nvSpPr>
          <p:cNvPr id="5" name="TextBox 4"/>
          <p:cNvSpPr txBox="1"/>
          <p:nvPr/>
        </p:nvSpPr>
        <p:spPr>
          <a:xfrm>
            <a:off x="731520" y="1133856"/>
            <a:ext cx="10728655" cy="320040"/>
          </a:xfrm>
          <a:prstGeom prst="rect">
            <a:avLst/>
          </a:prstGeom>
          <a:noFill/>
        </p:spPr>
        <p:txBody>
          <a:bodyPr wrap="square" lIns="0" tIns="0" rIns="0" bIns="0">
            <a:spAutoFit/>
          </a:bodyPr>
          <a:lstStyle/>
          <a:p>
            <a:pPr>
              <a:defRPr sz="1200">
                <a:solidFill>
                  <a:srgbClr val="475569"/>
                </a:solidFill>
                <a:latin typeface="Segoe UI"/>
              </a:defRPr>
            </a:pPr>
            <a:r>
              <a:t>Phân biệt rạch ròi giữa việc xác nhận đơn và xuất kho vật lý — Xóa bỏ giam giữ hàng ảo</a:t>
            </a:r>
          </a:p>
        </p:txBody>
      </p:sp>
      <p:sp>
        <p:nvSpPr>
          <p:cNvPr id="6" name="Rectangle 5"/>
          <p:cNvSpPr/>
          <p:nvPr/>
        </p:nvSpPr>
        <p:spPr>
          <a:xfrm>
            <a:off x="731520" y="15087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400800"/>
            <a:ext cx="1072865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46520"/>
            <a:ext cx="7315200" cy="274320"/>
          </a:xfrm>
          <a:prstGeom prst="rect">
            <a:avLst/>
          </a:prstGeom>
          <a:noFill/>
        </p:spPr>
        <p:txBody>
          <a:bodyPr wrap="square" lIns="0" tIns="0" rIns="0" bIns="0">
            <a:spAutoFit/>
          </a:bodyPr>
          <a:lstStyle/>
          <a:p>
            <a:pPr>
              <a:defRPr sz="900">
                <a:solidFill>
                  <a:srgbClr val="475569"/>
                </a:solidFill>
                <a:latin typeface="Segoe UI"/>
              </a:defRPr>
            </a:pPr>
            <a:r>
              <a:t>Hệ thống Quản lý Kho Thông minh (WMS AI) — Đề tài 07 | Phiên bản chuẩn hóa 2026</a:t>
            </a:r>
          </a:p>
        </p:txBody>
      </p:sp>
      <p:sp>
        <p:nvSpPr>
          <p:cNvPr id="9" name="TextBox 8"/>
          <p:cNvSpPr txBox="1"/>
          <p:nvPr/>
        </p:nvSpPr>
        <p:spPr>
          <a:xfrm>
            <a:off x="8716975" y="6446520"/>
            <a:ext cx="2743200" cy="274320"/>
          </a:xfrm>
          <a:prstGeom prst="rect">
            <a:avLst/>
          </a:prstGeom>
          <a:noFill/>
        </p:spPr>
        <p:txBody>
          <a:bodyPr wrap="square" lIns="0" tIns="0" rIns="0" bIns="0">
            <a:spAutoFit/>
          </a:bodyPr>
          <a:lstStyle/>
          <a:p>
            <a:pPr algn="r">
              <a:defRPr sz="900" b="1">
                <a:solidFill>
                  <a:srgbClr val="B45309"/>
                </a:solidFill>
                <a:latin typeface="Segoe UI"/>
              </a:defRPr>
            </a:pPr>
            <a:r>
              <a:t>Trang 6 / 16</a:t>
            </a:r>
          </a:p>
        </p:txBody>
      </p:sp>
      <p:sp>
        <p:nvSpPr>
          <p:cNvPr id="10" name="Rounded Rectangle 9"/>
          <p:cNvSpPr/>
          <p:nvPr/>
        </p:nvSpPr>
        <p:spPr>
          <a:xfrm>
            <a:off x="731520" y="1737360"/>
            <a:ext cx="33832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000" b="1">
                <a:solidFill>
                  <a:srgbClr val="0284C7"/>
                </a:solidFill>
                <a:latin typeface="Segoe UI"/>
              </a:defRPr>
            </a:pPr>
            <a:r>
              <a:t>TRẠNG THÁI 1: TIẾP NHẬN</a:t>
            </a:r>
          </a:p>
          <a:p>
            <a:pPr>
              <a:defRPr sz="1400" b="1">
                <a:solidFill>
                  <a:srgbClr val="0F172A"/>
                </a:solidFill>
                <a:latin typeface="Segoe UI"/>
              </a:defRPr>
            </a:pPr>
            <a:r>
              <a:t>CONFIRMED (Đã Xác Nhận)</a:t>
            </a:r>
          </a:p>
          <a:p>
            <a:pPr>
              <a:defRPr sz="800">
                <a:solidFill>
                  <a:srgbClr val="E2E8F0"/>
                </a:solidFill>
              </a:defRPr>
            </a:pPr>
            <a:r>
              <a:t>————————————————————</a:t>
            </a:r>
          </a:p>
          <a:p>
            <a:pPr>
              <a:defRPr sz="1000" b="1">
                <a:solidFill>
                  <a:srgbClr val="0F172A"/>
                </a:solidFill>
                <a:latin typeface="Segoe UI"/>
              </a:defRPr>
            </a:pPr>
            <a:r>
              <a:t>• Thời điểm: </a:t>
            </a:r>
          </a:p>
          <a:p>
            <a:pPr>
              <a:defRPr sz="950">
                <a:solidFill>
                  <a:srgbClr val="475569"/>
                </a:solidFill>
                <a:latin typeface="Segoe UI"/>
              </a:defRPr>
            </a:pPr>
            <a:r>
              <a:t>  Tạo phiếu khi có yêu cầu xuất từ phòng kinh doanh.</a:t>
            </a:r>
          </a:p>
          <a:p>
            <a:pPr>
              <a:defRPr sz="1000" b="1">
                <a:solidFill>
                  <a:srgbClr val="0F172A"/>
                </a:solidFill>
                <a:latin typeface="Segoe UI"/>
              </a:defRPr>
            </a:pPr>
            <a:r>
              <a:t>• Trạng thái kho: </a:t>
            </a:r>
          </a:p>
          <a:p>
            <a:pPr>
              <a:defRPr sz="950">
                <a:solidFill>
                  <a:srgbClr val="475569"/>
                </a:solidFill>
                <a:latin typeface="Segoe UI"/>
              </a:defRPr>
            </a:pPr>
            <a:r>
              <a:t>  Kiểm tra hàng có sẵn nhưng CHƯA trừ tồn kho thực tế, không giam hàng ảo.</a:t>
            </a:r>
          </a:p>
          <a:p>
            <a:pPr>
              <a:defRPr sz="1000" b="1">
                <a:solidFill>
                  <a:srgbClr val="0F172A"/>
                </a:solidFill>
                <a:latin typeface="Segoe UI"/>
              </a:defRPr>
            </a:pPr>
            <a:r>
              <a:t>• Cơ chế Hủy: </a:t>
            </a:r>
          </a:p>
          <a:p>
            <a:pPr>
              <a:defRPr sz="950">
                <a:solidFill>
                  <a:srgbClr val="475569"/>
                </a:solidFill>
                <a:latin typeface="Segoe UI"/>
              </a:defRPr>
            </a:pPr>
            <a:r>
              <a:t>  Nếu sai sót, bấm 'Hủy &amp; Xóa phiếu' -&gt; Hệ thống xóa sạch, không để lại bản ghi rác.</a:t>
            </a:r>
          </a:p>
        </p:txBody>
      </p:sp>
      <p:sp>
        <p:nvSpPr>
          <p:cNvPr id="11" name="Rounded Rectangle 10"/>
          <p:cNvSpPr/>
          <p:nvPr/>
        </p:nvSpPr>
        <p:spPr>
          <a:xfrm>
            <a:off x="4389120" y="1737360"/>
            <a:ext cx="33832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000" b="1">
                <a:solidFill>
                  <a:srgbClr val="B45309"/>
                </a:solidFill>
                <a:latin typeface="Segoe UI"/>
              </a:defRPr>
            </a:pPr>
            <a:r>
              <a:t>TRẠNG THÁI 2: XUẤT KHO</a:t>
            </a:r>
          </a:p>
          <a:p>
            <a:pPr>
              <a:defRPr sz="1400" b="1">
                <a:solidFill>
                  <a:srgbClr val="0F172A"/>
                </a:solidFill>
                <a:latin typeface="Segoe UI"/>
              </a:defRPr>
            </a:pPr>
            <a:r>
              <a:t>SHIPPING (Đang Giao)</a:t>
            </a:r>
          </a:p>
          <a:p>
            <a:pPr>
              <a:defRPr sz="800">
                <a:solidFill>
                  <a:srgbClr val="E2E8F0"/>
                </a:solidFill>
              </a:defRPr>
            </a:pPr>
            <a:r>
              <a:t>————————————————————</a:t>
            </a:r>
          </a:p>
          <a:p>
            <a:pPr>
              <a:defRPr sz="1000" b="1">
                <a:solidFill>
                  <a:srgbClr val="0F172A"/>
                </a:solidFill>
                <a:latin typeface="Segoe UI"/>
              </a:defRPr>
            </a:pPr>
            <a:r>
              <a:t>• Thời điểm: </a:t>
            </a:r>
          </a:p>
          <a:p>
            <a:pPr>
              <a:defRPr sz="950">
                <a:solidFill>
                  <a:srgbClr val="475569"/>
                </a:solidFill>
                <a:latin typeface="Segoe UI"/>
              </a:defRPr>
            </a:pPr>
            <a:r>
              <a:t>  Hàng rời cửa kho vật lý, thủ kho bấm 'Bắt đầu giao hàng'.</a:t>
            </a:r>
          </a:p>
          <a:p>
            <a:pPr>
              <a:defRPr sz="1000" b="1">
                <a:solidFill>
                  <a:srgbClr val="0F172A"/>
                </a:solidFill>
                <a:latin typeface="Segoe UI"/>
              </a:defRPr>
            </a:pPr>
            <a:r>
              <a:t>• Trạng thái kho: </a:t>
            </a:r>
          </a:p>
          <a:p>
            <a:pPr>
              <a:defRPr sz="950">
                <a:solidFill>
                  <a:srgbClr val="475569"/>
                </a:solidFill>
                <a:latin typeface="Segoe UI"/>
              </a:defRPr>
            </a:pPr>
            <a:r>
              <a:t>  Thực thi Atomic Stock Check, chính thức trừ current_stock và ghi Thẻ kho.</a:t>
            </a:r>
          </a:p>
          <a:p>
            <a:pPr>
              <a:defRPr sz="1000" b="1">
                <a:solidFill>
                  <a:srgbClr val="0F172A"/>
                </a:solidFill>
                <a:latin typeface="Segoe UI"/>
              </a:defRPr>
            </a:pPr>
            <a:r>
              <a:t>• Cơ chế Hoàn kho: </a:t>
            </a:r>
          </a:p>
          <a:p>
            <a:pPr>
              <a:defRPr sz="950">
                <a:solidFill>
                  <a:srgbClr val="475569"/>
                </a:solidFill>
                <a:latin typeface="Segoe UI"/>
              </a:defRPr>
            </a:pPr>
            <a:r>
              <a:t>  Giao thất bại/khách trả về -&gt; Bấm 'Hủy đơn &amp; Hoàn kho' -&gt; Chuyển CANCELLED &amp; hoàn trả 100% tồn kho tự động!</a:t>
            </a:r>
          </a:p>
        </p:txBody>
      </p:sp>
      <p:sp>
        <p:nvSpPr>
          <p:cNvPr id="12" name="Rounded Rectangle 11"/>
          <p:cNvSpPr/>
          <p:nvPr/>
        </p:nvSpPr>
        <p:spPr>
          <a:xfrm>
            <a:off x="8046720" y="1737360"/>
            <a:ext cx="33832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ctr">
              <a:defRPr sz="1000" b="1">
                <a:solidFill>
                  <a:srgbClr val="10B981"/>
                </a:solidFill>
                <a:latin typeface="Segoe UI"/>
              </a:defRPr>
            </a:pPr>
            <a:r>
              <a:t>TRẠNG THÁI 3: KẾT THÚC</a:t>
            </a:r>
          </a:p>
          <a:p>
            <a:pPr>
              <a:defRPr sz="1400" b="1">
                <a:solidFill>
                  <a:srgbClr val="0F172A"/>
                </a:solidFill>
                <a:latin typeface="Segoe UI"/>
              </a:defRPr>
            </a:pPr>
            <a:r>
              <a:t>COMPLETED (Hoàn Thành)</a:t>
            </a:r>
          </a:p>
          <a:p>
            <a:pPr>
              <a:defRPr sz="800">
                <a:solidFill>
                  <a:srgbClr val="E2E8F0"/>
                </a:solidFill>
              </a:defRPr>
            </a:pPr>
            <a:r>
              <a:t>————————————————————</a:t>
            </a:r>
          </a:p>
          <a:p>
            <a:pPr>
              <a:defRPr sz="1000" b="1">
                <a:solidFill>
                  <a:srgbClr val="0F172A"/>
                </a:solidFill>
                <a:latin typeface="Segoe UI"/>
              </a:defRPr>
            </a:pPr>
            <a:r>
              <a:t>• Thời điểm: </a:t>
            </a:r>
          </a:p>
          <a:p>
            <a:pPr>
              <a:defRPr sz="950">
                <a:solidFill>
                  <a:srgbClr val="475569"/>
                </a:solidFill>
                <a:latin typeface="Segoe UI"/>
              </a:defRPr>
            </a:pPr>
            <a:r>
              <a:t>  Khách hàng đã ký biên bản bàn giao thành công.</a:t>
            </a:r>
          </a:p>
          <a:p>
            <a:pPr>
              <a:defRPr sz="1000" b="1">
                <a:solidFill>
                  <a:srgbClr val="0F172A"/>
                </a:solidFill>
                <a:latin typeface="Segoe UI"/>
              </a:defRPr>
            </a:pPr>
            <a:r>
              <a:t>• Trạng thái kho: </a:t>
            </a:r>
          </a:p>
          <a:p>
            <a:pPr>
              <a:defRPr sz="950">
                <a:solidFill>
                  <a:srgbClr val="475569"/>
                </a:solidFill>
                <a:latin typeface="Segoe UI"/>
              </a:defRPr>
            </a:pPr>
            <a:r>
              <a:t>  Phiếu chuyển sang Hoàn thành và bị KHÓA VĨNH VIỄN (Immutable).</a:t>
            </a:r>
          </a:p>
          <a:p>
            <a:pPr>
              <a:defRPr sz="1000" b="1">
                <a:solidFill>
                  <a:srgbClr val="0F172A"/>
                </a:solidFill>
                <a:latin typeface="Segoe UI"/>
              </a:defRPr>
            </a:pPr>
            <a:r>
              <a:t>• Bảo đảm: </a:t>
            </a:r>
          </a:p>
          <a:p>
            <a:pPr>
              <a:defRPr sz="950">
                <a:solidFill>
                  <a:srgbClr val="475569"/>
                </a:solidFill>
                <a:latin typeface="Segoe UI"/>
              </a:defRPr>
            </a:pPr>
            <a:r>
              <a:t>  Không bất kỳ ai (kể cả Admin) được sửa/xóa dữ liệu sau khi đã Completed.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92608"/>
          </a:xfrm>
          <a:prstGeom prst="rect">
            <a:avLst/>
          </a:prstGeom>
          <a:noFill/>
        </p:spPr>
        <p:txBody>
          <a:bodyPr wrap="square" lIns="0" tIns="0" rIns="0" bIns="0">
            <a:spAutoFit/>
          </a:bodyPr>
          <a:lstStyle/>
          <a:p>
            <a:pPr>
              <a:defRPr sz="1000" b="1">
                <a:solidFill>
                  <a:srgbClr val="B45309"/>
                </a:solidFill>
                <a:latin typeface="Segoe UI"/>
              </a:defRPr>
            </a:pPr>
            <a:r>
              <a:t>CHƯƠNG 2, 6 &amp; 9: TOÀN VẸN DỮ LIỆU</a:t>
            </a:r>
          </a:p>
        </p:txBody>
      </p:sp>
      <p:sp>
        <p:nvSpPr>
          <p:cNvPr id="4" name="TextBox 3"/>
          <p:cNvSpPr txBox="1"/>
          <p:nvPr/>
        </p:nvSpPr>
        <p:spPr>
          <a:xfrm>
            <a:off x="731520" y="640080"/>
            <a:ext cx="10728655" cy="475488"/>
          </a:xfrm>
          <a:prstGeom prst="rect">
            <a:avLst/>
          </a:prstGeom>
          <a:noFill/>
        </p:spPr>
        <p:txBody>
          <a:bodyPr wrap="square" lIns="0" tIns="0" rIns="0" bIns="0">
            <a:spAutoFit/>
          </a:bodyPr>
          <a:lstStyle/>
          <a:p>
            <a:pPr>
              <a:defRPr sz="2200" b="1">
                <a:solidFill>
                  <a:srgbClr val="0F172A"/>
                </a:solidFill>
                <a:latin typeface="Segoe UI"/>
              </a:defRPr>
            </a:pPr>
            <a:r>
              <a:t>Cơ Chế Chống Tồn Kho Âm: Chốt Chặn Kép (Two-Tier Defense)</a:t>
            </a:r>
          </a:p>
        </p:txBody>
      </p:sp>
      <p:sp>
        <p:nvSpPr>
          <p:cNvPr id="5" name="TextBox 4"/>
          <p:cNvSpPr txBox="1"/>
          <p:nvPr/>
        </p:nvSpPr>
        <p:spPr>
          <a:xfrm>
            <a:off x="731520" y="1133856"/>
            <a:ext cx="10728655" cy="320040"/>
          </a:xfrm>
          <a:prstGeom prst="rect">
            <a:avLst/>
          </a:prstGeom>
          <a:noFill/>
        </p:spPr>
        <p:txBody>
          <a:bodyPr wrap="square" lIns="0" tIns="0" rIns="0" bIns="0">
            <a:spAutoFit/>
          </a:bodyPr>
          <a:lstStyle/>
          <a:p>
            <a:pPr>
              <a:defRPr sz="1200">
                <a:solidFill>
                  <a:srgbClr val="475569"/>
                </a:solidFill>
                <a:latin typeface="Segoe UI"/>
              </a:defRPr>
            </a:pPr>
            <a:r>
              <a:t>Bảo đảm tính toàn vẹn tuyệt đối ở cả 2 tầng: Service Logic và Database Constraints</a:t>
            </a:r>
          </a:p>
        </p:txBody>
      </p:sp>
      <p:sp>
        <p:nvSpPr>
          <p:cNvPr id="6" name="Rectangle 5"/>
          <p:cNvSpPr/>
          <p:nvPr/>
        </p:nvSpPr>
        <p:spPr>
          <a:xfrm>
            <a:off x="731520" y="15087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400800"/>
            <a:ext cx="1072865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46520"/>
            <a:ext cx="7315200" cy="274320"/>
          </a:xfrm>
          <a:prstGeom prst="rect">
            <a:avLst/>
          </a:prstGeom>
          <a:noFill/>
        </p:spPr>
        <p:txBody>
          <a:bodyPr wrap="square" lIns="0" tIns="0" rIns="0" bIns="0">
            <a:spAutoFit/>
          </a:bodyPr>
          <a:lstStyle/>
          <a:p>
            <a:pPr>
              <a:defRPr sz="900">
                <a:solidFill>
                  <a:srgbClr val="475569"/>
                </a:solidFill>
                <a:latin typeface="Segoe UI"/>
              </a:defRPr>
            </a:pPr>
            <a:r>
              <a:t>Hệ thống Quản lý Kho Thông minh (WMS AI) — Đề tài 07 | Phiên bản chuẩn hóa 2026</a:t>
            </a:r>
          </a:p>
        </p:txBody>
      </p:sp>
      <p:sp>
        <p:nvSpPr>
          <p:cNvPr id="9" name="TextBox 8"/>
          <p:cNvSpPr txBox="1"/>
          <p:nvPr/>
        </p:nvSpPr>
        <p:spPr>
          <a:xfrm>
            <a:off x="8716975" y="6446520"/>
            <a:ext cx="2743200" cy="274320"/>
          </a:xfrm>
          <a:prstGeom prst="rect">
            <a:avLst/>
          </a:prstGeom>
          <a:noFill/>
        </p:spPr>
        <p:txBody>
          <a:bodyPr wrap="square" lIns="0" tIns="0" rIns="0" bIns="0">
            <a:spAutoFit/>
          </a:bodyPr>
          <a:lstStyle/>
          <a:p>
            <a:pPr algn="r">
              <a:defRPr sz="900" b="1">
                <a:solidFill>
                  <a:srgbClr val="B45309"/>
                </a:solidFill>
                <a:latin typeface="Segoe UI"/>
              </a:defRPr>
            </a:pPr>
            <a:r>
              <a:t>Trang 7 / 16</a:t>
            </a:r>
          </a:p>
        </p:txBody>
      </p:sp>
      <p:sp>
        <p:nvSpPr>
          <p:cNvPr id="10" name="Rounded Rectangle 9"/>
          <p:cNvSpPr/>
          <p:nvPr/>
        </p:nvSpPr>
        <p:spPr>
          <a:xfrm>
            <a:off x="731520" y="1737360"/>
            <a:ext cx="52120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01168"/>
          <a:lstStyle/>
          <a:p>
            <a:pPr algn="ctr">
              <a:defRPr sz="1100" b="1">
                <a:solidFill>
                  <a:srgbClr val="B45309"/>
                </a:solidFill>
                <a:latin typeface="Segoe UI"/>
              </a:defRPr>
            </a:pPr>
            <a:r>
              <a:t>CHỐT CHẶN 1: ATOMIC CHECK TẦNG SERVICE</a:t>
            </a:r>
          </a:p>
          <a:p>
            <a:pPr>
              <a:defRPr sz="1300" b="1">
                <a:solidFill>
                  <a:srgbClr val="0F172A"/>
                </a:solidFill>
                <a:latin typeface="Segoe UI"/>
              </a:defRPr>
            </a:pPr>
            <a:r>
              <a:t>Thuật toán kiểm soát tồn kho nguyên tử</a:t>
            </a:r>
          </a:p>
          <a:p>
            <a:pPr>
              <a:defRPr sz="900">
                <a:solidFill>
                  <a:srgbClr val="1E293B"/>
                </a:solidFill>
                <a:latin typeface="Consolas"/>
              </a:defRPr>
            </a:pPr>
            <a:r>
              <a:t>BẮT ĐẦU TRANSACTION:</a:t>
            </a:r>
            <a:br/>
            <a:r>
              <a:t>  Với từng item trong phiếu xuất:</a:t>
            </a:r>
            <a:br/>
            <a:r>
              <a:t>    product = SELECT * FROM products</a:t>
            </a:r>
            <a:br/>
            <a:r>
              <a:t>              WHERE id = item.product_id</a:t>
            </a:r>
            <a:br/>
            <a:r>
              <a:t>    NẾU product.current_stock &lt; item.quantity:</a:t>
            </a:r>
            <a:br/>
            <a:r>
              <a:t>        ROLLBACK TRANSACTION</a:t>
            </a:r>
            <a:br/>
            <a:r>
              <a:t>        NÉM LỖI 400 Bad Request:</a:t>
            </a:r>
            <a:br/>
            <a:r>
              <a:t>        'Không đủ tồn kho: Cần X, Có Y'</a:t>
            </a:r>
            <a:br/>
            <a:r>
              <a:t>    product.current_stock -= item.quantity</a:t>
            </a:r>
            <a:br/>
            <a:r>
              <a:t>    GHI StockLedger(type='EXPORT', -quantity)</a:t>
            </a:r>
            <a:br/>
            <a:r>
              <a:t>LƯU ExportNote (status = 'SHIPPING')</a:t>
            </a:r>
            <a:br/>
            <a:r>
              <a:t>COMMIT TRANSACTION</a:t>
            </a:r>
          </a:p>
          <a:p>
            <a:pPr>
              <a:defRPr sz="950">
                <a:solidFill>
                  <a:srgbClr val="475569"/>
                </a:solidFill>
                <a:latin typeface="Segoe UI"/>
              </a:defRPr>
            </a:pPr>
            <a:r>
              <a:t>• Ý nghĩa: Chặn đứng ngay từ tầng logic nghiệp vụ, trả về thông báo lỗi rõ ràng kèm số tồn thực tế cho thủ kho xử lý.</a:t>
            </a:r>
          </a:p>
        </p:txBody>
      </p:sp>
      <p:sp>
        <p:nvSpPr>
          <p:cNvPr id="11" name="Rounded Rectangle 10"/>
          <p:cNvSpPr/>
          <p:nvPr/>
        </p:nvSpPr>
        <p:spPr>
          <a:xfrm>
            <a:off x="6217920" y="1737360"/>
            <a:ext cx="52120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01168"/>
          <a:lstStyle/>
          <a:p>
            <a:pPr algn="ctr">
              <a:defRPr sz="1100" b="1">
                <a:solidFill>
                  <a:srgbClr val="EF4444"/>
                </a:solidFill>
                <a:latin typeface="Segoe UI"/>
              </a:defRPr>
            </a:pPr>
            <a:r>
              <a:t>CHỐT CHẶN 2: CHECKCONSTRAINT TẦNG DATABASE</a:t>
            </a:r>
          </a:p>
          <a:p>
            <a:pPr>
              <a:defRPr sz="1300" b="1">
                <a:solidFill>
                  <a:srgbClr val="0F172A"/>
                </a:solidFill>
                <a:latin typeface="Segoe UI"/>
              </a:defRPr>
            </a:pPr>
            <a:r>
              <a:t>Ràng buộc toàn vẹn ở tầng đĩa vật lý (Hard Lock)</a:t>
            </a:r>
          </a:p>
          <a:p>
            <a:pPr>
              <a:defRPr sz="900">
                <a:solidFill>
                  <a:srgbClr val="1E293B"/>
                </a:solidFill>
                <a:latin typeface="Consolas"/>
              </a:defRPr>
            </a:pPr>
            <a:r>
              <a:t>Cài đặt Schema SQLAlchemy:</a:t>
            </a:r>
            <a:br/>
            <a:br/>
            <a:r>
              <a:t>class Product(Base):</a:t>
            </a:r>
            <a:br/>
            <a:r>
              <a:t>    __tablename__ = 'products'</a:t>
            </a:r>
            <a:br/>
            <a:r>
              <a:t>    __table_args__ = (</a:t>
            </a:r>
            <a:br/>
            <a:r>
              <a:t>        CheckConstraint(</a:t>
            </a:r>
            <a:br/>
            <a:r>
              <a:t>            'current_stock &gt;= 0',</a:t>
            </a:r>
            <a:br/>
            <a:r>
              <a:t>            name='chk_product_current_stock_non_negative'</a:t>
            </a:r>
            <a:br/>
            <a:r>
              <a:t>        ),</a:t>
            </a:r>
            <a:br/>
            <a:r>
              <a:t>    )</a:t>
            </a:r>
            <a:br/>
            <a:r>
              <a:t>    id = Column(Integer, primary_key=True)</a:t>
            </a:r>
            <a:br/>
            <a:r>
              <a:t>    current_stock = Column(Integer, nullable=False)</a:t>
            </a:r>
          </a:p>
          <a:p>
            <a:pPr>
              <a:defRPr sz="950">
                <a:solidFill>
                  <a:srgbClr val="475569"/>
                </a:solidFill>
                <a:latin typeface="Segoe UI"/>
              </a:defRPr>
            </a:pPr>
            <a:r>
              <a:t>• Vai trò 'Lưới bảo vệ cuối cùng': Kể cả khi có lỗi lập trình (Bug) hoặc tranh chấp đa luồng (Race Condition), CSDL từ chối ghi và tự động Rollback phiên làm việc ngay lập tức!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92608"/>
          </a:xfrm>
          <a:prstGeom prst="rect">
            <a:avLst/>
          </a:prstGeom>
          <a:noFill/>
        </p:spPr>
        <p:txBody>
          <a:bodyPr wrap="square" lIns="0" tIns="0" rIns="0" bIns="0">
            <a:spAutoFit/>
          </a:bodyPr>
          <a:lstStyle/>
          <a:p>
            <a:pPr>
              <a:defRPr sz="1000" b="1">
                <a:solidFill>
                  <a:srgbClr val="B45309"/>
                </a:solidFill>
                <a:latin typeface="Segoe UI"/>
              </a:defRPr>
            </a:pPr>
            <a:r>
              <a:t>CHƯƠNG 3 &amp; 4: KIỂM TOÁN &amp; ĐỐI SOÁT</a:t>
            </a:r>
          </a:p>
        </p:txBody>
      </p:sp>
      <p:sp>
        <p:nvSpPr>
          <p:cNvPr id="4" name="TextBox 3"/>
          <p:cNvSpPr txBox="1"/>
          <p:nvPr/>
        </p:nvSpPr>
        <p:spPr>
          <a:xfrm>
            <a:off x="731520" y="640080"/>
            <a:ext cx="10728655" cy="475488"/>
          </a:xfrm>
          <a:prstGeom prst="rect">
            <a:avLst/>
          </a:prstGeom>
          <a:noFill/>
        </p:spPr>
        <p:txBody>
          <a:bodyPr wrap="square" lIns="0" tIns="0" rIns="0" bIns="0">
            <a:spAutoFit/>
          </a:bodyPr>
          <a:lstStyle/>
          <a:p>
            <a:pPr>
              <a:defRPr sz="2200" b="1">
                <a:solidFill>
                  <a:srgbClr val="0F172A"/>
                </a:solidFill>
                <a:latin typeface="Segoe UI"/>
              </a:defRPr>
            </a:pPr>
            <a:r>
              <a:t>Sổ Cái Thẻ Kho Bất Biến &amp; Tính Năng Kiểm Kê Bù Trừ</a:t>
            </a:r>
          </a:p>
        </p:txBody>
      </p:sp>
      <p:sp>
        <p:nvSpPr>
          <p:cNvPr id="5" name="TextBox 4"/>
          <p:cNvSpPr txBox="1"/>
          <p:nvPr/>
        </p:nvSpPr>
        <p:spPr>
          <a:xfrm>
            <a:off x="731520" y="1133856"/>
            <a:ext cx="10728655" cy="320040"/>
          </a:xfrm>
          <a:prstGeom prst="rect">
            <a:avLst/>
          </a:prstGeom>
          <a:noFill/>
        </p:spPr>
        <p:txBody>
          <a:bodyPr wrap="square" lIns="0" tIns="0" rIns="0" bIns="0">
            <a:spAutoFit/>
          </a:bodyPr>
          <a:lstStyle/>
          <a:p>
            <a:pPr>
              <a:defRPr sz="1200">
                <a:solidFill>
                  <a:srgbClr val="475569"/>
                </a:solidFill>
                <a:latin typeface="Segoe UI"/>
              </a:defRPr>
            </a:pPr>
            <a:r>
              <a:t>Lưu vết kiểm toán từng giây (Audit Trail) và quy trình cân đối số liệu kho thực tế</a:t>
            </a:r>
          </a:p>
        </p:txBody>
      </p:sp>
      <p:sp>
        <p:nvSpPr>
          <p:cNvPr id="6" name="Rectangle 5"/>
          <p:cNvSpPr/>
          <p:nvPr/>
        </p:nvSpPr>
        <p:spPr>
          <a:xfrm>
            <a:off x="731520" y="15087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400800"/>
            <a:ext cx="1072865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46520"/>
            <a:ext cx="7315200" cy="274320"/>
          </a:xfrm>
          <a:prstGeom prst="rect">
            <a:avLst/>
          </a:prstGeom>
          <a:noFill/>
        </p:spPr>
        <p:txBody>
          <a:bodyPr wrap="square" lIns="0" tIns="0" rIns="0" bIns="0">
            <a:spAutoFit/>
          </a:bodyPr>
          <a:lstStyle/>
          <a:p>
            <a:pPr>
              <a:defRPr sz="900">
                <a:solidFill>
                  <a:srgbClr val="475569"/>
                </a:solidFill>
                <a:latin typeface="Segoe UI"/>
              </a:defRPr>
            </a:pPr>
            <a:r>
              <a:t>Hệ thống Quản lý Kho Thông minh (WMS AI) — Đề tài 07 | Phiên bản chuẩn hóa 2026</a:t>
            </a:r>
          </a:p>
        </p:txBody>
      </p:sp>
      <p:sp>
        <p:nvSpPr>
          <p:cNvPr id="9" name="TextBox 8"/>
          <p:cNvSpPr txBox="1"/>
          <p:nvPr/>
        </p:nvSpPr>
        <p:spPr>
          <a:xfrm>
            <a:off x="8716975" y="6446520"/>
            <a:ext cx="2743200" cy="274320"/>
          </a:xfrm>
          <a:prstGeom prst="rect">
            <a:avLst/>
          </a:prstGeom>
          <a:noFill/>
        </p:spPr>
        <p:txBody>
          <a:bodyPr wrap="square" lIns="0" tIns="0" rIns="0" bIns="0">
            <a:spAutoFit/>
          </a:bodyPr>
          <a:lstStyle/>
          <a:p>
            <a:pPr algn="r">
              <a:defRPr sz="900" b="1">
                <a:solidFill>
                  <a:srgbClr val="B45309"/>
                </a:solidFill>
                <a:latin typeface="Segoe UI"/>
              </a:defRPr>
            </a:pPr>
            <a:r>
              <a:t>Trang 8 / 16</a:t>
            </a:r>
          </a:p>
        </p:txBody>
      </p:sp>
      <p:sp>
        <p:nvSpPr>
          <p:cNvPr id="10" name="Rounded Rectangle 9"/>
          <p:cNvSpPr/>
          <p:nvPr/>
        </p:nvSpPr>
        <p:spPr>
          <a:xfrm>
            <a:off x="731520" y="1737360"/>
            <a:ext cx="52120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01168"/>
          <a:lstStyle/>
          <a:p>
            <a:pPr algn="ctr">
              <a:defRPr sz="1100" b="1">
                <a:solidFill>
                  <a:srgbClr val="B45309"/>
                </a:solidFill>
                <a:latin typeface="Segoe UI"/>
              </a:defRPr>
            </a:pPr>
            <a:r>
              <a:t>1. SỔ CÁI THẺ KHO (STOCK LEDGER)</a:t>
            </a:r>
          </a:p>
          <a:p>
            <a:pPr>
              <a:defRPr sz="1300" b="1">
                <a:solidFill>
                  <a:srgbClr val="0F172A"/>
                </a:solidFill>
                <a:latin typeface="Segoe UI"/>
              </a:defRPr>
            </a:pPr>
            <a:r>
              <a:t>Nhật ký biến động bất biến (Append-Only Audit Trail)</a:t>
            </a:r>
          </a:p>
          <a:p>
            <a:pPr>
              <a:defRPr sz="1000" b="1">
                <a:solidFill>
                  <a:srgbClr val="0F172A"/>
                </a:solidFill>
                <a:latin typeface="Segoe UI"/>
              </a:defRPr>
            </a:pPr>
            <a:r>
              <a:t>• Bất biến tuyệt đối: </a:t>
            </a:r>
          </a:p>
          <a:p>
            <a:pPr>
              <a:defRPr sz="950">
                <a:solidFill>
                  <a:srgbClr val="475569"/>
                </a:solidFill>
                <a:latin typeface="Segoe UI"/>
              </a:defRPr>
            </a:pPr>
            <a:r>
              <a:t>  Chỉ cho phép INSERT thêm bản ghi mới. Tuyệt đối cấm UPDATE và DELETE trên bảng thẻ kho.</a:t>
            </a:r>
          </a:p>
          <a:p>
            <a:pPr>
              <a:defRPr sz="1000" b="1">
                <a:solidFill>
                  <a:srgbClr val="0F172A"/>
                </a:solidFill>
                <a:latin typeface="Segoe UI"/>
              </a:defRPr>
            </a:pPr>
            <a:r>
              <a:t>• Dữ liệu lưu vết từng giây: </a:t>
            </a:r>
          </a:p>
          <a:p>
            <a:pPr>
              <a:defRPr sz="950">
                <a:solidFill>
                  <a:srgbClr val="475569"/>
                </a:solidFill>
                <a:latin typeface="Segoe UI"/>
              </a:defRPr>
            </a:pPr>
            <a:r>
              <a:t>  Mã chứng từ (PN, XK, KK), Mã mặt hàng, Loại nghiệp vụ (IMPORT, EXPORT, ADJUST), Biến động (+/-), Số tồn sau giao dịch, User ID và Timestamp.</a:t>
            </a:r>
          </a:p>
          <a:p>
            <a:pPr>
              <a:defRPr sz="1000" b="1">
                <a:solidFill>
                  <a:srgbClr val="0F172A"/>
                </a:solidFill>
                <a:latin typeface="Segoe UI"/>
              </a:defRPr>
            </a:pPr>
            <a:r>
              <a:t>• Giá trị pháp lý &amp; kiểm toán: </a:t>
            </a:r>
          </a:p>
          <a:p>
            <a:pPr>
              <a:defRPr sz="950">
                <a:solidFill>
                  <a:srgbClr val="475569"/>
                </a:solidFill>
                <a:latin typeface="Segoe UI"/>
              </a:defRPr>
            </a:pPr>
            <a:r>
              <a:t>  Cung cấp bằng chứng toàn vẹn cho Kế toán và Ban Giám đốc khi đối soát số liệu hoặc truy vết thất thoát hàng hóa.</a:t>
            </a:r>
          </a:p>
        </p:txBody>
      </p:sp>
      <p:sp>
        <p:nvSpPr>
          <p:cNvPr id="11" name="Rounded Rectangle 10"/>
          <p:cNvSpPr/>
          <p:nvPr/>
        </p:nvSpPr>
        <p:spPr>
          <a:xfrm>
            <a:off x="6217920" y="1737360"/>
            <a:ext cx="52120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01168"/>
          <a:lstStyle/>
          <a:p>
            <a:pPr algn="ctr">
              <a:defRPr sz="1100" b="1">
                <a:solidFill>
                  <a:srgbClr val="0D9488"/>
                </a:solidFill>
                <a:latin typeface="Segoe UI"/>
              </a:defRPr>
            </a:pPr>
            <a:r>
              <a:t>2. TÍNH NĂNG KIỂM KÊ KHO (STOCK ADJUSTMENT)</a:t>
            </a:r>
          </a:p>
          <a:p>
            <a:pPr>
              <a:defRPr sz="1300" b="1">
                <a:solidFill>
                  <a:srgbClr val="0F172A"/>
                </a:solidFill>
                <a:latin typeface="Segoe UI"/>
              </a:defRPr>
            </a:pPr>
            <a:r>
              <a:t>Cơ chế tự động cân đối sai lệch thực tế và sổ sách</a:t>
            </a:r>
          </a:p>
          <a:p>
            <a:pPr>
              <a:defRPr sz="1000" b="1">
                <a:solidFill>
                  <a:srgbClr val="0F172A"/>
                </a:solidFill>
                <a:latin typeface="Segoe UI"/>
              </a:defRPr>
            </a:pPr>
            <a:r>
              <a:t>• Bối cảnh nghiệp vụ: </a:t>
            </a:r>
          </a:p>
          <a:p>
            <a:pPr>
              <a:defRPr sz="950">
                <a:solidFill>
                  <a:srgbClr val="475569"/>
                </a:solidFill>
                <a:latin typeface="Segoe UI"/>
              </a:defRPr>
            </a:pPr>
            <a:r>
              <a:t>  Trong thực tế, hàng hóa có thể bị hư hại, rơi vỡ, thất thoát hoặc nhầm lẫn số lượng khi nhập xuất.</a:t>
            </a:r>
          </a:p>
          <a:p>
            <a:pPr>
              <a:defRPr sz="1000" b="1">
                <a:solidFill>
                  <a:srgbClr val="0F172A"/>
                </a:solidFill>
                <a:latin typeface="Segoe UI"/>
              </a:defRPr>
            </a:pPr>
            <a:r>
              <a:t>• Quy trình cân đối 3 bước: </a:t>
            </a:r>
          </a:p>
          <a:p>
            <a:pPr>
              <a:defRPr sz="950">
                <a:solidFill>
                  <a:srgbClr val="475569"/>
                </a:solidFill>
                <a:latin typeface="Segoe UI"/>
              </a:defRPr>
            </a:pPr>
            <a:r>
              <a:t>  Thủ kho kiểm đếm thực tế -&gt; Nhập số lượng thực tế -&gt; Hệ thống tự động tính độ lệch: Delta = Thực tế - Sổ sách.</a:t>
            </a:r>
          </a:p>
          <a:p>
            <a:pPr>
              <a:defRPr sz="1000" b="1">
                <a:solidFill>
                  <a:srgbClr val="0F172A"/>
                </a:solidFill>
                <a:latin typeface="Segoe UI"/>
              </a:defRPr>
            </a:pPr>
            <a:r>
              <a:t>• Tự động sinh chứng từ: </a:t>
            </a:r>
          </a:p>
          <a:p>
            <a:pPr>
              <a:defRPr sz="950">
                <a:solidFill>
                  <a:srgbClr val="475569"/>
                </a:solidFill>
                <a:latin typeface="Segoe UI"/>
              </a:defRPr>
            </a:pPr>
            <a:r>
              <a:t>  Sinh mã phiếu kiểm kê chuẩn: KK-YYYYMMDD-XXXX.</a:t>
            </a:r>
          </a:p>
          <a:p>
            <a:pPr>
              <a:defRPr sz="1000" b="1">
                <a:solidFill>
                  <a:srgbClr val="0F172A"/>
                </a:solidFill>
                <a:latin typeface="Segoe UI"/>
              </a:defRPr>
            </a:pPr>
            <a:r>
              <a:t>• Đồng bộ số tồn: </a:t>
            </a:r>
          </a:p>
          <a:p>
            <a:pPr>
              <a:defRPr sz="950">
                <a:solidFill>
                  <a:srgbClr val="475569"/>
                </a:solidFill>
                <a:latin typeface="Segoe UI"/>
              </a:defRPr>
            </a:pPr>
            <a:r>
              <a:t>  Tạo giao dịch nghiệp vụ ADJUST trên Thẻ kho để đưa số tồn về chuẩn xác, lưu kèm lý do điều chỉnh.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92608"/>
          </a:xfrm>
          <a:prstGeom prst="rect">
            <a:avLst/>
          </a:prstGeom>
          <a:noFill/>
        </p:spPr>
        <p:txBody>
          <a:bodyPr wrap="square" lIns="0" tIns="0" rIns="0" bIns="0">
            <a:spAutoFit/>
          </a:bodyPr>
          <a:lstStyle/>
          <a:p>
            <a:pPr>
              <a:defRPr sz="1000" b="1">
                <a:solidFill>
                  <a:srgbClr val="B45309"/>
                </a:solidFill>
                <a:latin typeface="Segoe UI"/>
              </a:defRPr>
            </a:pPr>
            <a:r>
              <a:t>CHƯƠNG 3 &amp; 9: ỨNG DỤNG AI TRONG KỸ NGHỆ PHẦN MỀM</a:t>
            </a:r>
          </a:p>
        </p:txBody>
      </p:sp>
      <p:sp>
        <p:nvSpPr>
          <p:cNvPr id="4" name="TextBox 3"/>
          <p:cNvSpPr txBox="1"/>
          <p:nvPr/>
        </p:nvSpPr>
        <p:spPr>
          <a:xfrm>
            <a:off x="731520" y="640080"/>
            <a:ext cx="10728655" cy="475488"/>
          </a:xfrm>
          <a:prstGeom prst="rect">
            <a:avLst/>
          </a:prstGeom>
          <a:noFill/>
        </p:spPr>
        <p:txBody>
          <a:bodyPr wrap="square" lIns="0" tIns="0" rIns="0" bIns="0">
            <a:spAutoFit/>
          </a:bodyPr>
          <a:lstStyle/>
          <a:p>
            <a:pPr>
              <a:defRPr sz="2200" b="1">
                <a:solidFill>
                  <a:srgbClr val="0F172A"/>
                </a:solidFill>
                <a:latin typeface="Segoe UI"/>
              </a:defRPr>
            </a:pPr>
            <a:r>
              <a:t>Phân Hệ AI Copilot Tích Hợp Google Gemini</a:t>
            </a:r>
          </a:p>
        </p:txBody>
      </p:sp>
      <p:sp>
        <p:nvSpPr>
          <p:cNvPr id="5" name="TextBox 4"/>
          <p:cNvSpPr txBox="1"/>
          <p:nvPr/>
        </p:nvSpPr>
        <p:spPr>
          <a:xfrm>
            <a:off x="731520" y="1133856"/>
            <a:ext cx="10728655" cy="320040"/>
          </a:xfrm>
          <a:prstGeom prst="rect">
            <a:avLst/>
          </a:prstGeom>
          <a:noFill/>
        </p:spPr>
        <p:txBody>
          <a:bodyPr wrap="square" lIns="0" tIns="0" rIns="0" bIns="0">
            <a:spAutoFit/>
          </a:bodyPr>
          <a:lstStyle/>
          <a:p>
            <a:pPr>
              <a:defRPr sz="1200">
                <a:solidFill>
                  <a:srgbClr val="475569"/>
                </a:solidFill>
                <a:latin typeface="Segoe UI"/>
              </a:defRPr>
            </a:pPr>
            <a:r>
              <a:t>3 Năng lực AI chuyên sâu hỗ trợ ra quyết định kho thông minh (Theo yêu cầu Đề tài 07)</a:t>
            </a:r>
          </a:p>
        </p:txBody>
      </p:sp>
      <p:sp>
        <p:nvSpPr>
          <p:cNvPr id="6" name="Rectangle 5"/>
          <p:cNvSpPr/>
          <p:nvPr/>
        </p:nvSpPr>
        <p:spPr>
          <a:xfrm>
            <a:off x="731520" y="15087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400800"/>
            <a:ext cx="1072865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46520"/>
            <a:ext cx="7315200" cy="274320"/>
          </a:xfrm>
          <a:prstGeom prst="rect">
            <a:avLst/>
          </a:prstGeom>
          <a:noFill/>
        </p:spPr>
        <p:txBody>
          <a:bodyPr wrap="square" lIns="0" tIns="0" rIns="0" bIns="0">
            <a:spAutoFit/>
          </a:bodyPr>
          <a:lstStyle/>
          <a:p>
            <a:pPr>
              <a:defRPr sz="900">
                <a:solidFill>
                  <a:srgbClr val="475569"/>
                </a:solidFill>
                <a:latin typeface="Segoe UI"/>
              </a:defRPr>
            </a:pPr>
            <a:r>
              <a:t>Hệ thống Quản lý Kho Thông minh (WMS AI) — Đề tài 07 | Phiên bản chuẩn hóa 2026</a:t>
            </a:r>
          </a:p>
        </p:txBody>
      </p:sp>
      <p:sp>
        <p:nvSpPr>
          <p:cNvPr id="9" name="TextBox 8"/>
          <p:cNvSpPr txBox="1"/>
          <p:nvPr/>
        </p:nvSpPr>
        <p:spPr>
          <a:xfrm>
            <a:off x="8716975" y="6446520"/>
            <a:ext cx="2743200" cy="274320"/>
          </a:xfrm>
          <a:prstGeom prst="rect">
            <a:avLst/>
          </a:prstGeom>
          <a:noFill/>
        </p:spPr>
        <p:txBody>
          <a:bodyPr wrap="square" lIns="0" tIns="0" rIns="0" bIns="0">
            <a:spAutoFit/>
          </a:bodyPr>
          <a:lstStyle/>
          <a:p>
            <a:pPr algn="r">
              <a:defRPr sz="900" b="1">
                <a:solidFill>
                  <a:srgbClr val="B45309"/>
                </a:solidFill>
                <a:latin typeface="Segoe UI"/>
              </a:defRPr>
            </a:pPr>
            <a:r>
              <a:t>Trang 9 / 16</a:t>
            </a:r>
          </a:p>
        </p:txBody>
      </p:sp>
      <p:sp>
        <p:nvSpPr>
          <p:cNvPr id="10" name="Rounded Rectangle 9"/>
          <p:cNvSpPr/>
          <p:nvPr/>
        </p:nvSpPr>
        <p:spPr>
          <a:xfrm>
            <a:off x="731520" y="1737360"/>
            <a:ext cx="33832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a:lstStyle/>
          <a:p>
            <a:pPr algn="ctr">
              <a:defRPr sz="1000" b="1">
                <a:solidFill>
                  <a:srgbClr val="0284C7"/>
                </a:solidFill>
                <a:latin typeface="Segoe UI"/>
              </a:defRPr>
            </a:pPr>
            <a:r>
              <a:t>NĂNG LỰC 1</a:t>
            </a:r>
          </a:p>
          <a:p>
            <a:pPr>
              <a:defRPr sz="1300" b="1">
                <a:solidFill>
                  <a:srgbClr val="0F172A"/>
                </a:solidFill>
                <a:latin typeface="Segoe UI"/>
              </a:defRPr>
            </a:pPr>
            <a:r>
              <a:t>Báo Cáo Nhập - Xuất - Tồn</a:t>
            </a:r>
          </a:p>
          <a:p>
            <a:pPr>
              <a:defRPr sz="800">
                <a:solidFill>
                  <a:srgbClr val="E2E8F0"/>
                </a:solidFill>
              </a:defRPr>
            </a:pPr>
            <a:r>
              <a:t>——————————————</a:t>
            </a:r>
          </a:p>
          <a:p>
            <a:pPr>
              <a:defRPr sz="950">
                <a:solidFill>
                  <a:srgbClr val="475569"/>
                </a:solidFill>
                <a:latin typeface="Segoe UI"/>
              </a:defRPr>
            </a:pPr>
            <a:r>
              <a:t>• Tự động tổng hợp số liệu biến động kho theo chu kỳ tháng.</a:t>
            </a:r>
          </a:p>
          <a:p>
            <a:pPr>
              <a:defRPr sz="950">
                <a:solidFill>
                  <a:srgbClr val="475569"/>
                </a:solidFill>
                <a:latin typeface="Segoe UI"/>
              </a:defRPr>
            </a:pPr>
            <a:r>
              <a:t>• Phân tích cơ cấu sản phẩm bán chạy nhất (Best-sellers) và sản phẩm tồn ứ.</a:t>
            </a:r>
          </a:p>
          <a:p>
            <a:pPr>
              <a:defRPr sz="950">
                <a:solidFill>
                  <a:srgbClr val="475569"/>
                </a:solidFill>
                <a:latin typeface="Segoe UI"/>
              </a:defRPr>
            </a:pPr>
            <a:r>
              <a:t>• Sinh báo cáo định dạng Markdown trực quan kèm nhận định quản trị kinh doanh sắc bén.</a:t>
            </a:r>
          </a:p>
        </p:txBody>
      </p:sp>
      <p:sp>
        <p:nvSpPr>
          <p:cNvPr id="11" name="Rounded Rectangle 10"/>
          <p:cNvSpPr/>
          <p:nvPr/>
        </p:nvSpPr>
        <p:spPr>
          <a:xfrm>
            <a:off x="4389120" y="1737360"/>
            <a:ext cx="33832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a:lstStyle/>
          <a:p>
            <a:pPr algn="ctr">
              <a:defRPr sz="1000" b="1">
                <a:solidFill>
                  <a:srgbClr val="B45309"/>
                </a:solidFill>
                <a:latin typeface="Segoe UI"/>
              </a:defRPr>
            </a:pPr>
            <a:r>
              <a:t>NĂNG LỰC 2</a:t>
            </a:r>
          </a:p>
          <a:p>
            <a:pPr>
              <a:defRPr sz="1300" b="1">
                <a:solidFill>
                  <a:srgbClr val="0F172A"/>
                </a:solidFill>
                <a:latin typeface="Segoe UI"/>
              </a:defRPr>
            </a:pPr>
            <a:r>
              <a:t>Dự Báo &amp; Đề Xuất Nhập Hàng</a:t>
            </a:r>
          </a:p>
          <a:p>
            <a:pPr>
              <a:defRPr sz="800">
                <a:solidFill>
                  <a:srgbClr val="E2E8F0"/>
                </a:solidFill>
              </a:defRPr>
            </a:pPr>
            <a:r>
              <a:t>——————————————</a:t>
            </a:r>
          </a:p>
          <a:p>
            <a:pPr>
              <a:defRPr sz="950">
                <a:solidFill>
                  <a:srgbClr val="475569"/>
                </a:solidFill>
                <a:latin typeface="Segoe UI"/>
              </a:defRPr>
            </a:pPr>
            <a:r>
              <a:t>• Ứng dụng công thức ROP (Reorder Point): ROP = (ADC * Lead_Time) + Safety_Stock.</a:t>
            </a:r>
          </a:p>
          <a:p>
            <a:pPr>
              <a:defRPr sz="950">
                <a:solidFill>
                  <a:srgbClr val="475569"/>
                </a:solidFill>
                <a:latin typeface="Segoe UI"/>
              </a:defRPr>
            </a:pPr>
            <a:r>
              <a:t>• Tính tốc độ tiêu thụ trung bình ngày (ADC) trong 30 ngày gần nhất.</a:t>
            </a:r>
          </a:p>
          <a:p>
            <a:pPr>
              <a:defRPr sz="950">
                <a:solidFill>
                  <a:srgbClr val="475569"/>
                </a:solidFill>
                <a:latin typeface="Segoe UI"/>
              </a:defRPr>
            </a:pPr>
            <a:r>
              <a:t>• Tự động đề xuất danh sách mặt hàng cần đặt và số lượng kinh tế tối ưu (EOQ).</a:t>
            </a:r>
          </a:p>
        </p:txBody>
      </p:sp>
      <p:sp>
        <p:nvSpPr>
          <p:cNvPr id="12" name="Rounded Rectangle 11"/>
          <p:cNvSpPr/>
          <p:nvPr/>
        </p:nvSpPr>
        <p:spPr>
          <a:xfrm>
            <a:off x="8046720" y="1737360"/>
            <a:ext cx="33832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a:lstStyle/>
          <a:p>
            <a:pPr algn="ctr">
              <a:defRPr sz="1000" b="1">
                <a:solidFill>
                  <a:srgbClr val="EF4444"/>
                </a:solidFill>
                <a:latin typeface="Segoe UI"/>
              </a:defRPr>
            </a:pPr>
            <a:r>
              <a:t>NĂNG LỰC 3</a:t>
            </a:r>
          </a:p>
          <a:p>
            <a:pPr>
              <a:defRPr sz="1300" b="1">
                <a:solidFill>
                  <a:srgbClr val="0F172A"/>
                </a:solidFill>
                <a:latin typeface="Segoe UI"/>
              </a:defRPr>
            </a:pPr>
            <a:r>
              <a:t>Cảnh Báo Biến Động Bất Thường</a:t>
            </a:r>
          </a:p>
          <a:p>
            <a:pPr>
              <a:defRPr sz="800">
                <a:solidFill>
                  <a:srgbClr val="E2E8F0"/>
                </a:solidFill>
              </a:defRPr>
            </a:pPr>
            <a:r>
              <a:t>——————————————</a:t>
            </a:r>
          </a:p>
          <a:p>
            <a:pPr>
              <a:defRPr sz="950">
                <a:solidFill>
                  <a:srgbClr val="475569"/>
                </a:solidFill>
                <a:latin typeface="Segoe UI"/>
              </a:defRPr>
            </a:pPr>
            <a:r>
              <a:t>• Phát hiện đơn hàng xuất tăng đột biến (&gt; 200% so với mức trung bình).</a:t>
            </a:r>
          </a:p>
          <a:p>
            <a:pPr>
              <a:defRPr sz="950">
                <a:solidFill>
                  <a:srgbClr val="475569"/>
                </a:solidFill>
                <a:latin typeface="Segoe UI"/>
              </a:defRPr>
            </a:pPr>
            <a:r>
              <a:t>• Cảnh báo hàng hóa ứ đọng kéo dài (&gt; 30 ngày không phát sinh xuất).</a:t>
            </a:r>
          </a:p>
          <a:p>
            <a:pPr>
              <a:defRPr sz="950">
                <a:solidFill>
                  <a:srgbClr val="475569"/>
                </a:solidFill>
                <a:latin typeface="Segoe UI"/>
              </a:defRPr>
            </a:pPr>
            <a:r>
              <a:t>• Giúp chủ kho phát hiện sớm rủi ro gian lận hoặc biến động nhu cầu thị trường.</a:t>
            </a:r>
          </a:p>
        </p:txBody>
      </p:sp>
      <p:sp>
        <p:nvSpPr>
          <p:cNvPr id="13" name="Rounded Rectangle 12"/>
          <p:cNvSpPr/>
          <p:nvPr/>
        </p:nvSpPr>
        <p:spPr>
          <a:xfrm>
            <a:off x="731520" y="5166360"/>
            <a:ext cx="10728655" cy="1051560"/>
          </a:xfrm>
          <a:prstGeom prst="roundRect">
            <a:avLst/>
          </a:prstGeom>
          <a:solidFill>
            <a:srgbClr val="F0FDFA"/>
          </a:solidFill>
          <a:ln w="1524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lIns="228600" rIns="228600" tIns="109728"/>
          <a:lstStyle/>
          <a:p>
            <a:pPr algn="ctr">
              <a:defRPr sz="1050" b="1">
                <a:solidFill>
                  <a:srgbClr val="0D9488"/>
                </a:solidFill>
                <a:latin typeface="Segoe UI"/>
              </a:defRPr>
            </a:pPr>
            <a:r>
              <a:t>🎯 KỸ THUẬT PROMPT ENGINEERING &amp; BẢO VỆ DỮ LIỆU NHẠY CẢM</a:t>
            </a:r>
          </a:p>
          <a:p>
            <a:pPr>
              <a:defRPr sz="950">
                <a:solidFill>
                  <a:srgbClr val="0F172A"/>
                </a:solidFill>
                <a:latin typeface="Segoe UI"/>
              </a:defRPr>
            </a:pPr>
            <a:r>
              <a:t>• Thiết lập vai trò nghiêm ngặt: System Prompt định danh 'Expert Warehouse AI Assistant', quy định cấm bịa đặt số liệu (Anti-hallucination).</a:t>
            </a:r>
            <a:br/>
            <a:r>
              <a:t>• Làm sạch dữ liệu (Data Sanitization): Ẩn toàn bộ thông tin giá vốn, giá nhập thực tế khỏi prompt gửi lên Google Gemini, bảo mật tuyệt đối bí mật kinh doanh.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92608"/>
          </a:xfrm>
          <a:prstGeom prst="rect">
            <a:avLst/>
          </a:prstGeom>
          <a:noFill/>
        </p:spPr>
        <p:txBody>
          <a:bodyPr wrap="square" lIns="0" tIns="0" rIns="0" bIns="0">
            <a:spAutoFit/>
          </a:bodyPr>
          <a:lstStyle/>
          <a:p>
            <a:pPr>
              <a:defRPr sz="1000" b="1">
                <a:solidFill>
                  <a:srgbClr val="B45309"/>
                </a:solidFill>
                <a:latin typeface="Segoe UI"/>
              </a:defRPr>
            </a:pPr>
            <a:r>
              <a:t>CHƯƠNG 6 &amp; 8: ĐỘ TIN CẬY &amp; SẴN SÀNG CAO</a:t>
            </a:r>
          </a:p>
        </p:txBody>
      </p:sp>
      <p:sp>
        <p:nvSpPr>
          <p:cNvPr id="4" name="TextBox 3"/>
          <p:cNvSpPr txBox="1"/>
          <p:nvPr/>
        </p:nvSpPr>
        <p:spPr>
          <a:xfrm>
            <a:off x="731520" y="640080"/>
            <a:ext cx="10728655" cy="475488"/>
          </a:xfrm>
          <a:prstGeom prst="rect">
            <a:avLst/>
          </a:prstGeom>
          <a:noFill/>
        </p:spPr>
        <p:txBody>
          <a:bodyPr wrap="square" lIns="0" tIns="0" rIns="0" bIns="0">
            <a:spAutoFit/>
          </a:bodyPr>
          <a:lstStyle/>
          <a:p>
            <a:pPr>
              <a:defRPr sz="2200" b="1">
                <a:solidFill>
                  <a:srgbClr val="0F172A"/>
                </a:solidFill>
                <a:latin typeface="Segoe UI"/>
              </a:defRPr>
            </a:pPr>
            <a:r>
              <a:t>Cơ Chế Dự Phòng Heuristic Fallback Engine</a:t>
            </a:r>
          </a:p>
        </p:txBody>
      </p:sp>
      <p:sp>
        <p:nvSpPr>
          <p:cNvPr id="5" name="TextBox 4"/>
          <p:cNvSpPr txBox="1"/>
          <p:nvPr/>
        </p:nvSpPr>
        <p:spPr>
          <a:xfrm>
            <a:off x="731520" y="1133856"/>
            <a:ext cx="10728655" cy="320040"/>
          </a:xfrm>
          <a:prstGeom prst="rect">
            <a:avLst/>
          </a:prstGeom>
          <a:noFill/>
        </p:spPr>
        <p:txBody>
          <a:bodyPr wrap="square" lIns="0" tIns="0" rIns="0" bIns="0">
            <a:spAutoFit/>
          </a:bodyPr>
          <a:lstStyle/>
          <a:p>
            <a:pPr>
              <a:defRPr sz="1200">
                <a:solidFill>
                  <a:srgbClr val="475569"/>
                </a:solidFill>
                <a:latin typeface="Segoe UI"/>
              </a:defRPr>
            </a:pPr>
            <a:r>
              <a:t>Bảo đảm hoạt động quản trị kho bãi 24/7 không gián đoạn ngay cả khi mất mạng hoặc hết quota API</a:t>
            </a:r>
          </a:p>
        </p:txBody>
      </p:sp>
      <p:sp>
        <p:nvSpPr>
          <p:cNvPr id="6" name="Rectangle 5"/>
          <p:cNvSpPr/>
          <p:nvPr/>
        </p:nvSpPr>
        <p:spPr>
          <a:xfrm>
            <a:off x="731520" y="15087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400800"/>
            <a:ext cx="1072865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46520"/>
            <a:ext cx="7315200" cy="274320"/>
          </a:xfrm>
          <a:prstGeom prst="rect">
            <a:avLst/>
          </a:prstGeom>
          <a:noFill/>
        </p:spPr>
        <p:txBody>
          <a:bodyPr wrap="square" lIns="0" tIns="0" rIns="0" bIns="0">
            <a:spAutoFit/>
          </a:bodyPr>
          <a:lstStyle/>
          <a:p>
            <a:pPr>
              <a:defRPr sz="900">
                <a:solidFill>
                  <a:srgbClr val="475569"/>
                </a:solidFill>
                <a:latin typeface="Segoe UI"/>
              </a:defRPr>
            </a:pPr>
            <a:r>
              <a:t>Hệ thống Quản lý Kho Thông minh (WMS AI) — Đề tài 07 | Phiên bản chuẩn hóa 2026</a:t>
            </a:r>
          </a:p>
        </p:txBody>
      </p:sp>
      <p:sp>
        <p:nvSpPr>
          <p:cNvPr id="9" name="TextBox 8"/>
          <p:cNvSpPr txBox="1"/>
          <p:nvPr/>
        </p:nvSpPr>
        <p:spPr>
          <a:xfrm>
            <a:off x="8716975" y="6446520"/>
            <a:ext cx="2743200" cy="274320"/>
          </a:xfrm>
          <a:prstGeom prst="rect">
            <a:avLst/>
          </a:prstGeom>
          <a:noFill/>
        </p:spPr>
        <p:txBody>
          <a:bodyPr wrap="square" lIns="0" tIns="0" rIns="0" bIns="0">
            <a:spAutoFit/>
          </a:bodyPr>
          <a:lstStyle/>
          <a:p>
            <a:pPr algn="r">
              <a:defRPr sz="900" b="1">
                <a:solidFill>
                  <a:srgbClr val="B45309"/>
                </a:solidFill>
                <a:latin typeface="Segoe UI"/>
              </a:defRPr>
            </a:pPr>
            <a:r>
              <a:t>Trang 10 / 16</a:t>
            </a:r>
          </a:p>
        </p:txBody>
      </p:sp>
      <p:sp>
        <p:nvSpPr>
          <p:cNvPr id="10" name="Rounded Rectangle 9"/>
          <p:cNvSpPr/>
          <p:nvPr/>
        </p:nvSpPr>
        <p:spPr>
          <a:xfrm>
            <a:off x="731520" y="173736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01168"/>
          <a:lstStyle/>
          <a:p>
            <a:pPr algn="ctr">
              <a:defRPr sz="1100" b="1">
                <a:solidFill>
                  <a:srgbClr val="0284C7"/>
                </a:solidFill>
                <a:latin typeface="Segoe UI"/>
              </a:defRPr>
            </a:pPr>
            <a:r>
              <a:t>KÊNH CHÍNH: GOOGLE GEMINI CLOUD (ONLINE)</a:t>
            </a:r>
          </a:p>
          <a:p>
            <a:pPr>
              <a:defRPr sz="1300" b="1">
                <a:solidFill>
                  <a:srgbClr val="0F172A"/>
                </a:solidFill>
                <a:latin typeface="Segoe UI"/>
              </a:defRPr>
            </a:pPr>
            <a:r>
              <a:t>Phân tích ngôn ngữ tự nhiên thông minh &amp; toàn diện</a:t>
            </a:r>
          </a:p>
          <a:p>
            <a:pPr>
              <a:defRPr sz="950">
                <a:solidFill>
                  <a:srgbClr val="475569"/>
                </a:solidFill>
                <a:latin typeface="Segoe UI"/>
              </a:defRPr>
            </a:pPr>
            <a:r>
              <a:t>• Hoạt động khi có kết nối Internet ổn định và API Quota khả dụng.</a:t>
            </a:r>
          </a:p>
          <a:p>
            <a:pPr>
              <a:defRPr sz="950">
                <a:solidFill>
                  <a:srgbClr val="475569"/>
                </a:solidFill>
                <a:latin typeface="Segoe UI"/>
              </a:defRPr>
            </a:pPr>
            <a:r>
              <a:t>• Sinh phân tích chuyên sâu, tổng kết xu hướng thị trường đa chiều.</a:t>
            </a:r>
          </a:p>
          <a:p>
            <a:pPr>
              <a:defRPr sz="950">
                <a:solidFill>
                  <a:srgbClr val="475569"/>
                </a:solidFill>
                <a:latin typeface="Segoe UI"/>
              </a:defRPr>
            </a:pPr>
            <a:r>
              <a:t>• Bộ nhớ đệm (AI Cache): Lưu kết quả phân tích theo ngày để tiết kiệm chi phí gọi API và tăng tốc độ phản hồi &lt; 50ms cho người dùng.</a:t>
            </a:r>
          </a:p>
        </p:txBody>
      </p:sp>
      <p:sp>
        <p:nvSpPr>
          <p:cNvPr id="11" name="Rounded Rectangle 10"/>
          <p:cNvSpPr/>
          <p:nvPr/>
        </p:nvSpPr>
        <p:spPr>
          <a:xfrm>
            <a:off x="6217920" y="173736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01168"/>
          <a:lstStyle/>
          <a:p>
            <a:pPr algn="ctr">
              <a:defRPr sz="1100" b="1">
                <a:solidFill>
                  <a:srgbClr val="B45309"/>
                </a:solidFill>
                <a:latin typeface="Segoe UI"/>
              </a:defRPr>
            </a:pPr>
            <a:r>
              <a:t>KÊNH DỰ PHÒNG: HEURISTIC ENGINE (LOCAL OFFLINE)</a:t>
            </a:r>
          </a:p>
          <a:p>
            <a:pPr>
              <a:defRPr sz="1300" b="1">
                <a:solidFill>
                  <a:srgbClr val="0F172A"/>
                </a:solidFill>
                <a:latin typeface="Segoe UI"/>
              </a:defRPr>
            </a:pPr>
            <a:r>
              <a:t>Động cơ thuật toán cục bộ chạy độc lập 100%</a:t>
            </a:r>
          </a:p>
          <a:p>
            <a:pPr>
              <a:defRPr sz="950">
                <a:solidFill>
                  <a:srgbClr val="475569"/>
                </a:solidFill>
                <a:latin typeface="Segoe UI"/>
              </a:defRPr>
            </a:pPr>
            <a:r>
              <a:t>• Tự động kích hoạt khi: Mất mạng Internet, Timeout (&gt;10s), hoặc lỗi HTTP 429 Quota Exceeded.</a:t>
            </a:r>
          </a:p>
          <a:p>
            <a:pPr>
              <a:defRPr sz="950">
                <a:solidFill>
                  <a:srgbClr val="475569"/>
                </a:solidFill>
                <a:latin typeface="Segoe UI"/>
              </a:defRPr>
            </a:pPr>
            <a:r>
              <a:t>• Thuật toán toán học cục bộ: Tự tính toán số liệu Nhập-Xuất-Tồn, tự quét ngưỡng min_stock và tự phát hiện bất thường trực tiếp trên Database.</a:t>
            </a:r>
          </a:p>
          <a:p>
            <a:pPr>
              <a:defRPr sz="950">
                <a:solidFill>
                  <a:srgbClr val="475569"/>
                </a:solidFill>
                <a:latin typeface="Segoe UI"/>
              </a:defRPr>
            </a:pPr>
            <a:r>
              <a:t>• Minh bạch người dùng: Trả về kết quả ngay lập tức kèm nhãn cảnh báo [Chế độ Heuristic Offline].</a:t>
            </a:r>
          </a:p>
        </p:txBody>
      </p:sp>
      <p:sp>
        <p:nvSpPr>
          <p:cNvPr id="12" name="Rounded Rectangle 11"/>
          <p:cNvSpPr/>
          <p:nvPr/>
        </p:nvSpPr>
        <p:spPr>
          <a:xfrm>
            <a:off x="731520" y="5166360"/>
            <a:ext cx="10728655" cy="1051560"/>
          </a:xfrm>
          <a:prstGeom prst="roundRect">
            <a:avLst/>
          </a:prstGeom>
          <a:solidFill>
            <a:srgbClr val="FEF3C7"/>
          </a:solidFill>
          <a:ln w="1524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lIns="228600" rIns="228600" tIns="109728"/>
          <a:lstStyle/>
          <a:p>
            <a:pPr algn="ctr">
              <a:defRPr sz="1050" b="1">
                <a:solidFill>
                  <a:srgbClr val="B45309"/>
                </a:solidFill>
                <a:latin typeface="Segoe UI"/>
              </a:defRPr>
            </a:pPr>
            <a:r>
              <a:t>🛡️ GIÁ TRỊ CỐT LÕI: TÍNH LIÊN TỤC TRONG KINH DOANH (BUSINESS CONTINUITY)</a:t>
            </a:r>
          </a:p>
          <a:p>
            <a:pPr>
              <a:defRPr sz="950">
                <a:solidFill>
                  <a:srgbClr val="0F172A"/>
                </a:solidFill>
                <a:latin typeface="Segoe UI"/>
              </a:defRPr>
            </a:pPr>
            <a:r>
              <a:t>• Trong kho vận thực tế, việc đình trệ dù chỉ 5 phút cũng gây thiệt hại lớn cho chuỗi cung ứng.</a:t>
            </a:r>
            <a:br/>
            <a:r>
              <a:t>• Cơ chế Heuristic Fallback Engine bảo đảm hệ thống WMS AI đạt độ sẵn sàng cao (High Availability 24/7), hoàn toàn không bị động trước các sự cố mạng bên ngoài.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92608"/>
          </a:xfrm>
          <a:prstGeom prst="rect">
            <a:avLst/>
          </a:prstGeom>
          <a:noFill/>
        </p:spPr>
        <p:txBody>
          <a:bodyPr wrap="square" lIns="0" tIns="0" rIns="0" bIns="0">
            <a:spAutoFit/>
          </a:bodyPr>
          <a:lstStyle/>
          <a:p>
            <a:pPr>
              <a:defRPr sz="1000" b="1">
                <a:solidFill>
                  <a:srgbClr val="B45309"/>
                </a:solidFill>
                <a:latin typeface="Segoe UI"/>
              </a:defRPr>
            </a:pPr>
            <a:r>
              <a:t>CHƯƠNG 4: YÊU CẦU THÔNG TIN DỮ LIỆU</a:t>
            </a:r>
          </a:p>
        </p:txBody>
      </p:sp>
      <p:sp>
        <p:nvSpPr>
          <p:cNvPr id="4" name="TextBox 3"/>
          <p:cNvSpPr txBox="1"/>
          <p:nvPr/>
        </p:nvSpPr>
        <p:spPr>
          <a:xfrm>
            <a:off x="731520" y="640080"/>
            <a:ext cx="10728655" cy="475488"/>
          </a:xfrm>
          <a:prstGeom prst="rect">
            <a:avLst/>
          </a:prstGeom>
          <a:noFill/>
        </p:spPr>
        <p:txBody>
          <a:bodyPr wrap="square" lIns="0" tIns="0" rIns="0" bIns="0">
            <a:spAutoFit/>
          </a:bodyPr>
          <a:lstStyle/>
          <a:p>
            <a:pPr>
              <a:defRPr sz="2200" b="1">
                <a:solidFill>
                  <a:srgbClr val="0F172A"/>
                </a:solidFill>
                <a:latin typeface="Segoe UI"/>
              </a:defRPr>
            </a:pPr>
            <a:r>
              <a:t>Mô Hình Cơ Sở Dữ Liệu Chuẩn Hóa Dạng 3 (3NF ERD)</a:t>
            </a:r>
          </a:p>
        </p:txBody>
      </p:sp>
      <p:sp>
        <p:nvSpPr>
          <p:cNvPr id="5" name="TextBox 4"/>
          <p:cNvSpPr txBox="1"/>
          <p:nvPr/>
        </p:nvSpPr>
        <p:spPr>
          <a:xfrm>
            <a:off x="731520" y="1133856"/>
            <a:ext cx="10728655" cy="320040"/>
          </a:xfrm>
          <a:prstGeom prst="rect">
            <a:avLst/>
          </a:prstGeom>
          <a:noFill/>
        </p:spPr>
        <p:txBody>
          <a:bodyPr wrap="square" lIns="0" tIns="0" rIns="0" bIns="0">
            <a:spAutoFit/>
          </a:bodyPr>
          <a:lstStyle/>
          <a:p>
            <a:pPr>
              <a:defRPr sz="1200">
                <a:solidFill>
                  <a:srgbClr val="475569"/>
                </a:solidFill>
                <a:latin typeface="Segoe UI"/>
              </a:defRPr>
            </a:pPr>
            <a:r>
              <a:t>9 Bảng thực thể phân cấp chặt chẽ, tối ưu hóa truy vấn và toàn vẹn tham chiếu</a:t>
            </a:r>
          </a:p>
        </p:txBody>
      </p:sp>
      <p:sp>
        <p:nvSpPr>
          <p:cNvPr id="6" name="Rectangle 5"/>
          <p:cNvSpPr/>
          <p:nvPr/>
        </p:nvSpPr>
        <p:spPr>
          <a:xfrm>
            <a:off x="731520" y="15087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400800"/>
            <a:ext cx="1072865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46520"/>
            <a:ext cx="7315200" cy="274320"/>
          </a:xfrm>
          <a:prstGeom prst="rect">
            <a:avLst/>
          </a:prstGeom>
          <a:noFill/>
        </p:spPr>
        <p:txBody>
          <a:bodyPr wrap="square" lIns="0" tIns="0" rIns="0" bIns="0">
            <a:spAutoFit/>
          </a:bodyPr>
          <a:lstStyle/>
          <a:p>
            <a:pPr>
              <a:defRPr sz="900">
                <a:solidFill>
                  <a:srgbClr val="475569"/>
                </a:solidFill>
                <a:latin typeface="Segoe UI"/>
              </a:defRPr>
            </a:pPr>
            <a:r>
              <a:t>Hệ thống Quản lý Kho Thông minh (WMS AI) — Đề tài 07 | Phiên bản chuẩn hóa 2026</a:t>
            </a:r>
          </a:p>
        </p:txBody>
      </p:sp>
      <p:sp>
        <p:nvSpPr>
          <p:cNvPr id="9" name="TextBox 8"/>
          <p:cNvSpPr txBox="1"/>
          <p:nvPr/>
        </p:nvSpPr>
        <p:spPr>
          <a:xfrm>
            <a:off x="8716975" y="6446520"/>
            <a:ext cx="2743200" cy="274320"/>
          </a:xfrm>
          <a:prstGeom prst="rect">
            <a:avLst/>
          </a:prstGeom>
          <a:noFill/>
        </p:spPr>
        <p:txBody>
          <a:bodyPr wrap="square" lIns="0" tIns="0" rIns="0" bIns="0">
            <a:spAutoFit/>
          </a:bodyPr>
          <a:lstStyle/>
          <a:p>
            <a:pPr algn="r">
              <a:defRPr sz="900" b="1">
                <a:solidFill>
                  <a:srgbClr val="B45309"/>
                </a:solidFill>
                <a:latin typeface="Segoe UI"/>
              </a:defRPr>
            </a:pPr>
            <a:r>
              <a:t>Trang 11 / 16</a:t>
            </a:r>
          </a:p>
        </p:txBody>
      </p:sp>
      <p:sp>
        <p:nvSpPr>
          <p:cNvPr id="10" name="Rounded Rectangle 9"/>
          <p:cNvSpPr/>
          <p:nvPr/>
        </p:nvSpPr>
        <p:spPr>
          <a:xfrm>
            <a:off x="731520" y="1737360"/>
            <a:ext cx="3383280" cy="1371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rIns="182880" tIns="137160"/>
          <a:lstStyle/>
          <a:p>
            <a:pPr algn="ctr">
              <a:defRPr sz="1100" b="1">
                <a:solidFill>
                  <a:srgbClr val="0284C7"/>
                </a:solidFill>
                <a:latin typeface="Consolas"/>
              </a:defRPr>
            </a:pPr>
            <a:r>
              <a:t>TABLE: users</a:t>
            </a:r>
          </a:p>
          <a:p>
            <a:pPr>
              <a:defRPr sz="1000" b="1">
                <a:solidFill>
                  <a:srgbClr val="0F172A"/>
                </a:solidFill>
                <a:latin typeface="Segoe UI"/>
              </a:defRPr>
            </a:pPr>
            <a:r>
              <a:t>Tài khoản &amp; Phân quyền</a:t>
            </a:r>
          </a:p>
          <a:p>
            <a:pPr>
              <a:defRPr sz="850">
                <a:solidFill>
                  <a:srgbClr val="475569"/>
                </a:solidFill>
                <a:latin typeface="Segoe UI"/>
              </a:defRPr>
            </a:pPr>
            <a:r>
              <a:t>Trường: id, username, password_hash, role, full_name</a:t>
            </a:r>
          </a:p>
        </p:txBody>
      </p:sp>
      <p:sp>
        <p:nvSpPr>
          <p:cNvPr id="11" name="Rounded Rectangle 10"/>
          <p:cNvSpPr/>
          <p:nvPr/>
        </p:nvSpPr>
        <p:spPr>
          <a:xfrm>
            <a:off x="4389120" y="1737360"/>
            <a:ext cx="3383280" cy="1371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rIns="182880" tIns="137160"/>
          <a:lstStyle/>
          <a:p>
            <a:pPr algn="ctr">
              <a:defRPr sz="1100" b="1">
                <a:solidFill>
                  <a:srgbClr val="0284C7"/>
                </a:solidFill>
                <a:latin typeface="Consolas"/>
              </a:defRPr>
            </a:pPr>
            <a:r>
              <a:t>TABLE: categories</a:t>
            </a:r>
          </a:p>
          <a:p>
            <a:pPr>
              <a:defRPr sz="1000" b="1">
                <a:solidFill>
                  <a:srgbClr val="0F172A"/>
                </a:solidFill>
                <a:latin typeface="Segoe UI"/>
              </a:defRPr>
            </a:pPr>
            <a:r>
              <a:t>Nhóm phân loại hàng hóa</a:t>
            </a:r>
          </a:p>
          <a:p>
            <a:pPr>
              <a:defRPr sz="850">
                <a:solidFill>
                  <a:srgbClr val="475569"/>
                </a:solidFill>
                <a:latin typeface="Segoe UI"/>
              </a:defRPr>
            </a:pPr>
            <a:r>
              <a:t>Trường: id, name, description, created_at</a:t>
            </a:r>
          </a:p>
        </p:txBody>
      </p:sp>
      <p:sp>
        <p:nvSpPr>
          <p:cNvPr id="12" name="Rounded Rectangle 11"/>
          <p:cNvSpPr/>
          <p:nvPr/>
        </p:nvSpPr>
        <p:spPr>
          <a:xfrm>
            <a:off x="8046720" y="1737360"/>
            <a:ext cx="3383280" cy="1371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rIns="182880" tIns="137160"/>
          <a:lstStyle/>
          <a:p>
            <a:pPr algn="ctr">
              <a:defRPr sz="1100" b="1">
                <a:solidFill>
                  <a:srgbClr val="B45309"/>
                </a:solidFill>
                <a:latin typeface="Consolas"/>
              </a:defRPr>
            </a:pPr>
            <a:r>
              <a:t>TABLE: products</a:t>
            </a:r>
          </a:p>
          <a:p>
            <a:pPr>
              <a:defRPr sz="1000" b="1">
                <a:solidFill>
                  <a:srgbClr val="0F172A"/>
                </a:solidFill>
                <a:latin typeface="Segoe UI"/>
              </a:defRPr>
            </a:pPr>
            <a:r>
              <a:t>Danh mục hàng hóa cốt lõi</a:t>
            </a:r>
          </a:p>
          <a:p>
            <a:pPr>
              <a:defRPr sz="850">
                <a:solidFill>
                  <a:srgbClr val="475569"/>
                </a:solidFill>
                <a:latin typeface="Segoe UI"/>
              </a:defRPr>
            </a:pPr>
            <a:r>
              <a:t>Trường: id, name, category_id, current_stock, min_stock, unit</a:t>
            </a:r>
          </a:p>
        </p:txBody>
      </p:sp>
      <p:sp>
        <p:nvSpPr>
          <p:cNvPr id="13" name="Rounded Rectangle 12"/>
          <p:cNvSpPr/>
          <p:nvPr/>
        </p:nvSpPr>
        <p:spPr>
          <a:xfrm>
            <a:off x="731520" y="3200400"/>
            <a:ext cx="3383280" cy="1371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rIns="182880" tIns="137160"/>
          <a:lstStyle/>
          <a:p>
            <a:pPr algn="ctr">
              <a:defRPr sz="1100" b="1">
                <a:solidFill>
                  <a:srgbClr val="0284C7"/>
                </a:solidFill>
                <a:latin typeface="Consolas"/>
              </a:defRPr>
            </a:pPr>
            <a:r>
              <a:t>TABLE: suppliers</a:t>
            </a:r>
          </a:p>
          <a:p>
            <a:pPr>
              <a:defRPr sz="1000" b="1">
                <a:solidFill>
                  <a:srgbClr val="0F172A"/>
                </a:solidFill>
                <a:latin typeface="Segoe UI"/>
              </a:defRPr>
            </a:pPr>
            <a:r>
              <a:t>Nhà cung cấp vật tư</a:t>
            </a:r>
          </a:p>
          <a:p>
            <a:pPr>
              <a:defRPr sz="850">
                <a:solidFill>
                  <a:srgbClr val="475569"/>
                </a:solidFill>
                <a:latin typeface="Segoe UI"/>
              </a:defRPr>
            </a:pPr>
            <a:r>
              <a:t>Trường: id, name, contact_person, phone, email, address</a:t>
            </a:r>
          </a:p>
        </p:txBody>
      </p:sp>
      <p:sp>
        <p:nvSpPr>
          <p:cNvPr id="14" name="Rounded Rectangle 13"/>
          <p:cNvSpPr/>
          <p:nvPr/>
        </p:nvSpPr>
        <p:spPr>
          <a:xfrm>
            <a:off x="4389120" y="3200400"/>
            <a:ext cx="3383280" cy="1371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rIns="182880" tIns="137160"/>
          <a:lstStyle/>
          <a:p>
            <a:pPr algn="ctr">
              <a:defRPr sz="1100" b="1">
                <a:solidFill>
                  <a:srgbClr val="0284C7"/>
                </a:solidFill>
                <a:latin typeface="Consolas"/>
              </a:defRPr>
            </a:pPr>
            <a:r>
              <a:t>TABLE: import_notes</a:t>
            </a:r>
          </a:p>
          <a:p>
            <a:pPr>
              <a:defRPr sz="1000" b="1">
                <a:solidFill>
                  <a:srgbClr val="0F172A"/>
                </a:solidFill>
                <a:latin typeface="Segoe UI"/>
              </a:defRPr>
            </a:pPr>
            <a:r>
              <a:t>Phiếu nhập kho tổng quan</a:t>
            </a:r>
          </a:p>
          <a:p>
            <a:pPr>
              <a:defRPr sz="850">
                <a:solidFill>
                  <a:srgbClr val="475569"/>
                </a:solidFill>
                <a:latin typeface="Segoe UI"/>
              </a:defRPr>
            </a:pPr>
            <a:r>
              <a:t>Trường: id, note_code (PN-...), supplier_id, user_id, date</a:t>
            </a:r>
          </a:p>
        </p:txBody>
      </p:sp>
      <p:sp>
        <p:nvSpPr>
          <p:cNvPr id="15" name="Rounded Rectangle 14"/>
          <p:cNvSpPr/>
          <p:nvPr/>
        </p:nvSpPr>
        <p:spPr>
          <a:xfrm>
            <a:off x="8046720" y="3200400"/>
            <a:ext cx="3383280" cy="1371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rIns="182880" tIns="137160"/>
          <a:lstStyle/>
          <a:p>
            <a:pPr algn="ctr">
              <a:defRPr sz="1100" b="1">
                <a:solidFill>
                  <a:srgbClr val="0284C7"/>
                </a:solidFill>
                <a:latin typeface="Consolas"/>
              </a:defRPr>
            </a:pPr>
            <a:r>
              <a:t>TABLE: import_note_details</a:t>
            </a:r>
          </a:p>
          <a:p>
            <a:pPr>
              <a:defRPr sz="1000" b="1">
                <a:solidFill>
                  <a:srgbClr val="0F172A"/>
                </a:solidFill>
                <a:latin typeface="Segoe UI"/>
              </a:defRPr>
            </a:pPr>
            <a:r>
              <a:t>Chi tiết dòng hàng nhập</a:t>
            </a:r>
          </a:p>
          <a:p>
            <a:pPr>
              <a:defRPr sz="850">
                <a:solidFill>
                  <a:srgbClr val="475569"/>
                </a:solidFill>
                <a:latin typeface="Segoe UI"/>
              </a:defRPr>
            </a:pPr>
            <a:r>
              <a:t>Trường: id, note_id, product_id, quantity, unit_price</a:t>
            </a:r>
          </a:p>
        </p:txBody>
      </p:sp>
      <p:sp>
        <p:nvSpPr>
          <p:cNvPr id="16" name="Rounded Rectangle 15"/>
          <p:cNvSpPr/>
          <p:nvPr/>
        </p:nvSpPr>
        <p:spPr>
          <a:xfrm>
            <a:off x="731520" y="4663440"/>
            <a:ext cx="3383280" cy="1371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rIns="182880" tIns="137160"/>
          <a:lstStyle/>
          <a:p>
            <a:pPr algn="ctr">
              <a:defRPr sz="1100" b="1">
                <a:solidFill>
                  <a:srgbClr val="0284C7"/>
                </a:solidFill>
                <a:latin typeface="Consolas"/>
              </a:defRPr>
            </a:pPr>
            <a:r>
              <a:t>TABLE: export_notes</a:t>
            </a:r>
          </a:p>
          <a:p>
            <a:pPr>
              <a:defRPr sz="1000" b="1">
                <a:solidFill>
                  <a:srgbClr val="0F172A"/>
                </a:solidFill>
                <a:latin typeface="Segoe UI"/>
              </a:defRPr>
            </a:pPr>
            <a:r>
              <a:t>Phiếu xuất kho 3 bước</a:t>
            </a:r>
          </a:p>
          <a:p>
            <a:pPr>
              <a:defRPr sz="850">
                <a:solidFill>
                  <a:srgbClr val="475569"/>
                </a:solidFill>
                <a:latin typeface="Segoe UI"/>
              </a:defRPr>
            </a:pPr>
            <a:r>
              <a:t>Trường: id, note_code (XK-...), status, user_id, created_at</a:t>
            </a:r>
          </a:p>
        </p:txBody>
      </p:sp>
      <p:sp>
        <p:nvSpPr>
          <p:cNvPr id="17" name="Rounded Rectangle 16"/>
          <p:cNvSpPr/>
          <p:nvPr/>
        </p:nvSpPr>
        <p:spPr>
          <a:xfrm>
            <a:off x="4389120" y="4663440"/>
            <a:ext cx="3383280" cy="1371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rIns="182880" tIns="137160"/>
          <a:lstStyle/>
          <a:p>
            <a:pPr algn="ctr">
              <a:defRPr sz="1100" b="1">
                <a:solidFill>
                  <a:srgbClr val="0284C7"/>
                </a:solidFill>
                <a:latin typeface="Consolas"/>
              </a:defRPr>
            </a:pPr>
            <a:r>
              <a:t>TABLE: export_note_details</a:t>
            </a:r>
          </a:p>
          <a:p>
            <a:pPr>
              <a:defRPr sz="1000" b="1">
                <a:solidFill>
                  <a:srgbClr val="0F172A"/>
                </a:solidFill>
                <a:latin typeface="Segoe UI"/>
              </a:defRPr>
            </a:pPr>
            <a:r>
              <a:t>Chi tiết dòng hàng xuất</a:t>
            </a:r>
          </a:p>
          <a:p>
            <a:pPr>
              <a:defRPr sz="850">
                <a:solidFill>
                  <a:srgbClr val="475569"/>
                </a:solidFill>
                <a:latin typeface="Segoe UI"/>
              </a:defRPr>
            </a:pPr>
            <a:r>
              <a:t>Trường: id, note_id, product_id, quantity</a:t>
            </a:r>
          </a:p>
        </p:txBody>
      </p:sp>
      <p:sp>
        <p:nvSpPr>
          <p:cNvPr id="18" name="Rounded Rectangle 17"/>
          <p:cNvSpPr/>
          <p:nvPr/>
        </p:nvSpPr>
        <p:spPr>
          <a:xfrm>
            <a:off x="8046720" y="4663440"/>
            <a:ext cx="3383280" cy="1371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182880" rIns="182880" tIns="137160"/>
          <a:lstStyle/>
          <a:p>
            <a:pPr algn="ctr">
              <a:defRPr sz="1100" b="1">
                <a:solidFill>
                  <a:srgbClr val="B45309"/>
                </a:solidFill>
                <a:latin typeface="Consolas"/>
              </a:defRPr>
            </a:pPr>
            <a:r>
              <a:t>TABLE: stock_ledger</a:t>
            </a:r>
          </a:p>
          <a:p>
            <a:pPr>
              <a:defRPr sz="1000" b="1">
                <a:solidFill>
                  <a:srgbClr val="0F172A"/>
                </a:solidFill>
                <a:latin typeface="Segoe UI"/>
              </a:defRPr>
            </a:pPr>
            <a:r>
              <a:t>Sổ cái thẻ kho kiểm toán</a:t>
            </a:r>
          </a:p>
          <a:p>
            <a:pPr>
              <a:defRPr sz="850">
                <a:solidFill>
                  <a:srgbClr val="475569"/>
                </a:solidFill>
                <a:latin typeface="Segoe UI"/>
              </a:defRPr>
            </a:pPr>
            <a:r>
              <a:t>Trường: id, document_code, type, product_id, change, balance</a:t>
            </a:r>
          </a:p>
        </p:txBody>
      </p:sp>
      <p:sp>
        <p:nvSpPr>
          <p:cNvPr id="19" name="TextBox 18"/>
          <p:cNvSpPr txBox="1"/>
          <p:nvPr/>
        </p:nvSpPr>
        <p:spPr>
          <a:xfrm>
            <a:off x="731520" y="5943600"/>
            <a:ext cx="10728655" cy="365760"/>
          </a:xfrm>
          <a:prstGeom prst="rect">
            <a:avLst/>
          </a:prstGeom>
          <a:noFill/>
        </p:spPr>
        <p:txBody>
          <a:bodyPr wrap="none">
            <a:spAutoFit/>
          </a:bodyPr>
          <a:lstStyle/>
          <a:p>
            <a:pPr>
              <a:defRPr sz="950" b="1">
                <a:solidFill>
                  <a:srgbClr val="0D9488"/>
                </a:solidFill>
                <a:latin typeface="Segoe UI"/>
              </a:defRPr>
            </a:pPr>
            <a:r>
              <a:t>🔑 RÀNG BUỘC TOÀN VẸN: PRAGMA foreign_keys = ON; Quan hệ 1-N rõ ràng; Ràng buộc CheckConstraint('current_stock &gt;= 0'); Index trên khóa ngoại và ngày giao dịch.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92608"/>
          </a:xfrm>
          <a:prstGeom prst="rect">
            <a:avLst/>
          </a:prstGeom>
          <a:noFill/>
        </p:spPr>
        <p:txBody>
          <a:bodyPr wrap="square" lIns="0" tIns="0" rIns="0" bIns="0">
            <a:spAutoFit/>
          </a:bodyPr>
          <a:lstStyle/>
          <a:p>
            <a:pPr>
              <a:defRPr sz="1000" b="1">
                <a:solidFill>
                  <a:srgbClr val="B45309"/>
                </a:solidFill>
                <a:latin typeface="Segoe UI"/>
              </a:defRPr>
            </a:pPr>
            <a:r>
              <a:t>CHƯƠNG 7: THIẾT KẾ GIAO DIỆN &amp; CÔNG THÁI HỌC</a:t>
            </a:r>
          </a:p>
        </p:txBody>
      </p:sp>
      <p:sp>
        <p:nvSpPr>
          <p:cNvPr id="4" name="TextBox 3"/>
          <p:cNvSpPr txBox="1"/>
          <p:nvPr/>
        </p:nvSpPr>
        <p:spPr>
          <a:xfrm>
            <a:off x="731520" y="640080"/>
            <a:ext cx="10728655" cy="475488"/>
          </a:xfrm>
          <a:prstGeom prst="rect">
            <a:avLst/>
          </a:prstGeom>
          <a:noFill/>
        </p:spPr>
        <p:txBody>
          <a:bodyPr wrap="square" lIns="0" tIns="0" rIns="0" bIns="0">
            <a:spAutoFit/>
          </a:bodyPr>
          <a:lstStyle/>
          <a:p>
            <a:pPr>
              <a:defRPr sz="2200" b="1">
                <a:solidFill>
                  <a:srgbClr val="0F172A"/>
                </a:solidFill>
                <a:latin typeface="Segoe UI"/>
              </a:defRPr>
            </a:pPr>
            <a:r>
              <a:t>Đột Phá Component ProductSelect &amp; Trải Nghiệm Công Thái Học</a:t>
            </a:r>
          </a:p>
        </p:txBody>
      </p:sp>
      <p:sp>
        <p:nvSpPr>
          <p:cNvPr id="5" name="TextBox 4"/>
          <p:cNvSpPr txBox="1"/>
          <p:nvPr/>
        </p:nvSpPr>
        <p:spPr>
          <a:xfrm>
            <a:off x="731520" y="1133856"/>
            <a:ext cx="10728655" cy="320040"/>
          </a:xfrm>
          <a:prstGeom prst="rect">
            <a:avLst/>
          </a:prstGeom>
          <a:noFill/>
        </p:spPr>
        <p:txBody>
          <a:bodyPr wrap="square" lIns="0" tIns="0" rIns="0" bIns="0">
            <a:spAutoFit/>
          </a:bodyPr>
          <a:lstStyle/>
          <a:p>
            <a:pPr>
              <a:defRPr sz="1200">
                <a:solidFill>
                  <a:srgbClr val="475569"/>
                </a:solidFill>
                <a:latin typeface="Segoe UI"/>
              </a:defRPr>
            </a:pPr>
            <a:r>
              <a:t>Tối ưu hóa thao tác người vận hành, giảm 70% thời gian nhập liệu và loại bỏ mỏi mắt</a:t>
            </a:r>
          </a:p>
        </p:txBody>
      </p:sp>
      <p:sp>
        <p:nvSpPr>
          <p:cNvPr id="6" name="Rectangle 5"/>
          <p:cNvSpPr/>
          <p:nvPr/>
        </p:nvSpPr>
        <p:spPr>
          <a:xfrm>
            <a:off x="731520" y="15087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400800"/>
            <a:ext cx="1072865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46520"/>
            <a:ext cx="7315200" cy="274320"/>
          </a:xfrm>
          <a:prstGeom prst="rect">
            <a:avLst/>
          </a:prstGeom>
          <a:noFill/>
        </p:spPr>
        <p:txBody>
          <a:bodyPr wrap="square" lIns="0" tIns="0" rIns="0" bIns="0">
            <a:spAutoFit/>
          </a:bodyPr>
          <a:lstStyle/>
          <a:p>
            <a:pPr>
              <a:defRPr sz="900">
                <a:solidFill>
                  <a:srgbClr val="475569"/>
                </a:solidFill>
                <a:latin typeface="Segoe UI"/>
              </a:defRPr>
            </a:pPr>
            <a:r>
              <a:t>Hệ thống Quản lý Kho Thông minh (WMS AI) — Đề tài 07 | Phiên bản chuẩn hóa 2026</a:t>
            </a:r>
          </a:p>
        </p:txBody>
      </p:sp>
      <p:sp>
        <p:nvSpPr>
          <p:cNvPr id="9" name="TextBox 8"/>
          <p:cNvSpPr txBox="1"/>
          <p:nvPr/>
        </p:nvSpPr>
        <p:spPr>
          <a:xfrm>
            <a:off x="8716975" y="6446520"/>
            <a:ext cx="2743200" cy="274320"/>
          </a:xfrm>
          <a:prstGeom prst="rect">
            <a:avLst/>
          </a:prstGeom>
          <a:noFill/>
        </p:spPr>
        <p:txBody>
          <a:bodyPr wrap="square" lIns="0" tIns="0" rIns="0" bIns="0">
            <a:spAutoFit/>
          </a:bodyPr>
          <a:lstStyle/>
          <a:p>
            <a:pPr algn="r">
              <a:defRPr sz="900" b="1">
                <a:solidFill>
                  <a:srgbClr val="B45309"/>
                </a:solidFill>
                <a:latin typeface="Segoe UI"/>
              </a:defRPr>
            </a:pPr>
            <a:r>
              <a:t>Trang 12 / 16</a:t>
            </a:r>
          </a:p>
        </p:txBody>
      </p:sp>
      <p:sp>
        <p:nvSpPr>
          <p:cNvPr id="10" name="Rounded Rectangle 9"/>
          <p:cNvSpPr/>
          <p:nvPr/>
        </p:nvSpPr>
        <p:spPr>
          <a:xfrm>
            <a:off x="731520" y="1737360"/>
            <a:ext cx="52120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01168"/>
          <a:lstStyle/>
          <a:p>
            <a:pPr algn="ctr">
              <a:defRPr sz="1100" b="1">
                <a:solidFill>
                  <a:srgbClr val="B45309"/>
                </a:solidFill>
                <a:latin typeface="Segoe UI"/>
              </a:defRPr>
            </a:pPr>
            <a:r>
              <a:t>1. TRIẾT LÝ CÔNG THÁI HỌC (WARM WOOD &amp; SLATE)</a:t>
            </a:r>
          </a:p>
          <a:p>
            <a:pPr>
              <a:defRPr sz="1300" b="1">
                <a:solidFill>
                  <a:srgbClr val="0F172A"/>
                </a:solidFill>
                <a:latin typeface="Segoe UI"/>
              </a:defRPr>
            </a:pPr>
            <a:r>
              <a:t>Thiết kế giao diện hướng đến người vận hành thực tế</a:t>
            </a:r>
          </a:p>
          <a:p>
            <a:pPr>
              <a:defRPr sz="1000" b="1">
                <a:solidFill>
                  <a:srgbClr val="0F172A"/>
                </a:solidFill>
                <a:latin typeface="Segoe UI"/>
              </a:defRPr>
            </a:pPr>
            <a:r>
              <a:t>• Bảng màu Warm Wood &amp; Slate: </a:t>
            </a:r>
          </a:p>
          <a:p>
            <a:pPr>
              <a:defRPr sz="950">
                <a:solidFill>
                  <a:srgbClr val="475569"/>
                </a:solidFill>
                <a:latin typeface="Segoe UI"/>
              </a:defRPr>
            </a:pPr>
            <a:r>
              <a:t>  Lấy cảm hứng từ chất liệu gỗ tự nhiên và kho vận, tạo cảm giác dễ chịu, đạt tiêu chuẩn tương phản WCAG 2.1 AA giúp thủ kho làm việc liên tục 8 tiếng không bị mỏi mắt.</a:t>
            </a:r>
          </a:p>
          <a:p>
            <a:pPr>
              <a:defRPr sz="1000" b="1">
                <a:solidFill>
                  <a:srgbClr val="0F172A"/>
                </a:solidFill>
                <a:latin typeface="Segoe UI"/>
              </a:defRPr>
            </a:pPr>
            <a:r>
              <a:t>• Ẩn hoàn toàn mã SKU kỹ thuật: </a:t>
            </a:r>
          </a:p>
          <a:p>
            <a:pPr>
              <a:defRPr sz="950">
                <a:solidFill>
                  <a:srgbClr val="475569"/>
                </a:solidFill>
                <a:latin typeface="Segoe UI"/>
              </a:defRPr>
            </a:pPr>
            <a:r>
              <a:t>  Khảo sát thực tế cho thấy thủ kho nhận biết hàng qua tên gọi. Giao diện chỉ hiển thị: [Tên sản phẩm] (Tồn: [SL]), loại bỏ mã SKU rườm rà gây rối mắt.</a:t>
            </a:r>
          </a:p>
          <a:p>
            <a:pPr>
              <a:defRPr sz="1000" b="1">
                <a:solidFill>
                  <a:srgbClr val="0F172A"/>
                </a:solidFill>
                <a:latin typeface="Segoe UI"/>
              </a:defRPr>
            </a:pPr>
            <a:r>
              <a:t>• Bộ lọc phân cấp song song: </a:t>
            </a:r>
          </a:p>
          <a:p>
            <a:pPr>
              <a:defRPr sz="950">
                <a:solidFill>
                  <a:srgbClr val="475569"/>
                </a:solidFill>
                <a:latin typeface="Segoe UI"/>
              </a:defRPr>
            </a:pPr>
            <a:r>
              <a:t>  Bố trí ô chọn 'Nhóm hàng' ngay cạnh ô tìm kiếm. Cho phép lọc nhanh theo từng nhóm hoặc tra cứu toàn bộ kho hàng linh hoạt.</a:t>
            </a:r>
          </a:p>
        </p:txBody>
      </p:sp>
      <p:sp>
        <p:nvSpPr>
          <p:cNvPr id="11" name="Rounded Rectangle 10"/>
          <p:cNvSpPr/>
          <p:nvPr/>
        </p:nvSpPr>
        <p:spPr>
          <a:xfrm>
            <a:off x="6217920" y="1737360"/>
            <a:ext cx="52120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01168"/>
          <a:lstStyle/>
          <a:p>
            <a:pPr algn="ctr">
              <a:defRPr sz="1100" b="1">
                <a:solidFill>
                  <a:srgbClr val="0D9488"/>
                </a:solidFill>
                <a:latin typeface="Segoe UI"/>
              </a:defRPr>
            </a:pPr>
            <a:r>
              <a:t>2. ĐỘT PHÁ COMPONENT PRODUCTSELECT.JSX</a:t>
            </a:r>
          </a:p>
          <a:p>
            <a:pPr>
              <a:defRPr sz="1300" b="1">
                <a:solidFill>
                  <a:srgbClr val="0F172A"/>
                </a:solidFill>
                <a:latin typeface="Segoe UI"/>
              </a:defRPr>
            </a:pPr>
            <a:r>
              <a:t>Thuật toán tìm kiếm thông minh &amp; Điều hướng bàn phím</a:t>
            </a:r>
          </a:p>
          <a:p>
            <a:pPr>
              <a:defRPr sz="1000" b="1">
                <a:solidFill>
                  <a:srgbClr val="0F172A"/>
                </a:solidFill>
                <a:latin typeface="Segoe UI"/>
              </a:defRPr>
            </a:pPr>
            <a:r>
              <a:t>• Gõ tắt chữ cái đầu (Initials Match): </a:t>
            </a:r>
          </a:p>
          <a:p>
            <a:pPr>
              <a:defRPr sz="950">
                <a:solidFill>
                  <a:srgbClr val="475569"/>
                </a:solidFill>
                <a:latin typeface="Segoe UI"/>
              </a:defRPr>
            </a:pPr>
            <a:r>
              <a:t>  Thủ kho chỉ cần gõ 'blv' là tìm thấy ngay 'Bàn Làm Việc'; gõ 'gt' ra 'Gỗ Thông'; gõ 'tqa' ra 'Tủ Quần Áo'.</a:t>
            </a:r>
          </a:p>
          <a:p>
            <a:pPr>
              <a:defRPr sz="1000" b="1">
                <a:solidFill>
                  <a:srgbClr val="0F172A"/>
                </a:solidFill>
                <a:latin typeface="Segoe UI"/>
              </a:defRPr>
            </a:pPr>
            <a:r>
              <a:t>• Khử dấu tiếng Việt (Unicode NFD): </a:t>
            </a:r>
          </a:p>
          <a:p>
            <a:pPr>
              <a:defRPr sz="950">
                <a:solidFill>
                  <a:srgbClr val="475569"/>
                </a:solidFill>
                <a:latin typeface="Segoe UI"/>
              </a:defRPr>
            </a:pPr>
            <a:r>
              <a:t>  Gõ không dấu hay có dấu đều cho kết quả chuẩn xác 100% nhờ thuật toán chuẩn hóa ký tự tổ hợp.</a:t>
            </a:r>
          </a:p>
          <a:p>
            <a:pPr>
              <a:defRPr sz="1000" b="1">
                <a:solidFill>
                  <a:srgbClr val="0F172A"/>
                </a:solidFill>
                <a:latin typeface="Segoe UI"/>
              </a:defRPr>
            </a:pPr>
            <a:r>
              <a:t>• Bôi đen tự động khi click (Auto-select): </a:t>
            </a:r>
          </a:p>
          <a:p>
            <a:pPr>
              <a:defRPr sz="950">
                <a:solidFill>
                  <a:srgbClr val="475569"/>
                </a:solidFill>
                <a:latin typeface="Segoe UI"/>
              </a:defRPr>
            </a:pPr>
            <a:r>
              <a:t>  Click vào ô là text cũ tự động bôi đen, người dùng có thể gõ đè ngay lập tức mà không cần bấm phím xóa (Backspace).</a:t>
            </a:r>
          </a:p>
          <a:p>
            <a:pPr>
              <a:defRPr sz="1000" b="1">
                <a:solidFill>
                  <a:srgbClr val="0F172A"/>
                </a:solidFill>
                <a:latin typeface="Segoe UI"/>
              </a:defRPr>
            </a:pPr>
            <a:r>
              <a:t>• Điều hướng bàn phím 100%: </a:t>
            </a:r>
          </a:p>
          <a:p>
            <a:pPr>
              <a:defRPr sz="950">
                <a:solidFill>
                  <a:srgbClr val="475569"/>
                </a:solidFill>
                <a:latin typeface="Segoe UI"/>
              </a:defRPr>
            </a:pPr>
            <a:r>
              <a:t>  Hỗ trợ phím Mũi tên lên/xuống để duyệt danh sách, Enter để chọn, Esc để đóng menu — không cần rời tay khỏi bàn phím.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92608"/>
          </a:xfrm>
          <a:prstGeom prst="rect">
            <a:avLst/>
          </a:prstGeom>
          <a:noFill/>
        </p:spPr>
        <p:txBody>
          <a:bodyPr wrap="square" lIns="0" tIns="0" rIns="0" bIns="0">
            <a:spAutoFit/>
          </a:bodyPr>
          <a:lstStyle/>
          <a:p>
            <a:pPr>
              <a:defRPr sz="1000" b="1">
                <a:solidFill>
                  <a:srgbClr val="B45309"/>
                </a:solidFill>
                <a:latin typeface="Segoe UI"/>
              </a:defRPr>
            </a:pPr>
            <a:r>
              <a:t>CHƯƠNG 6: YÊU CẦU PHI CHỨC NĂNG</a:t>
            </a:r>
          </a:p>
        </p:txBody>
      </p:sp>
      <p:sp>
        <p:nvSpPr>
          <p:cNvPr id="4" name="TextBox 3"/>
          <p:cNvSpPr txBox="1"/>
          <p:nvPr/>
        </p:nvSpPr>
        <p:spPr>
          <a:xfrm>
            <a:off x="731520" y="640080"/>
            <a:ext cx="10728655" cy="475488"/>
          </a:xfrm>
          <a:prstGeom prst="rect">
            <a:avLst/>
          </a:prstGeom>
          <a:noFill/>
        </p:spPr>
        <p:txBody>
          <a:bodyPr wrap="square" lIns="0" tIns="0" rIns="0" bIns="0">
            <a:spAutoFit/>
          </a:bodyPr>
          <a:lstStyle/>
          <a:p>
            <a:pPr>
              <a:defRPr sz="2200" b="1">
                <a:solidFill>
                  <a:srgbClr val="0F172A"/>
                </a:solidFill>
                <a:latin typeface="Segoe UI"/>
              </a:defRPr>
            </a:pPr>
            <a:r>
              <a:t>Tiêu Chuẩn Hiệu Năng, Độ Tin Cậy &amp; An Toàn Bảo Mật</a:t>
            </a:r>
          </a:p>
        </p:txBody>
      </p:sp>
      <p:sp>
        <p:nvSpPr>
          <p:cNvPr id="5" name="TextBox 4"/>
          <p:cNvSpPr txBox="1"/>
          <p:nvPr/>
        </p:nvSpPr>
        <p:spPr>
          <a:xfrm>
            <a:off x="731520" y="1133856"/>
            <a:ext cx="10728655" cy="320040"/>
          </a:xfrm>
          <a:prstGeom prst="rect">
            <a:avLst/>
          </a:prstGeom>
          <a:noFill/>
        </p:spPr>
        <p:txBody>
          <a:bodyPr wrap="square" lIns="0" tIns="0" rIns="0" bIns="0">
            <a:spAutoFit/>
          </a:bodyPr>
          <a:lstStyle/>
          <a:p>
            <a:pPr>
              <a:defRPr sz="1200">
                <a:solidFill>
                  <a:srgbClr val="475569"/>
                </a:solidFill>
                <a:latin typeface="Segoe UI"/>
              </a:defRPr>
            </a:pPr>
            <a:r>
              <a:t>Hệ thống đạt các chỉ số kỹ thuật khắt khe về tốc độ, toàn vẹn dữ liệu và an toàn thông tin</a:t>
            </a:r>
          </a:p>
        </p:txBody>
      </p:sp>
      <p:sp>
        <p:nvSpPr>
          <p:cNvPr id="6" name="Rectangle 5"/>
          <p:cNvSpPr/>
          <p:nvPr/>
        </p:nvSpPr>
        <p:spPr>
          <a:xfrm>
            <a:off x="731520" y="15087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400800"/>
            <a:ext cx="1072865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46520"/>
            <a:ext cx="7315200" cy="274320"/>
          </a:xfrm>
          <a:prstGeom prst="rect">
            <a:avLst/>
          </a:prstGeom>
          <a:noFill/>
        </p:spPr>
        <p:txBody>
          <a:bodyPr wrap="square" lIns="0" tIns="0" rIns="0" bIns="0">
            <a:spAutoFit/>
          </a:bodyPr>
          <a:lstStyle/>
          <a:p>
            <a:pPr>
              <a:defRPr sz="900">
                <a:solidFill>
                  <a:srgbClr val="475569"/>
                </a:solidFill>
                <a:latin typeface="Segoe UI"/>
              </a:defRPr>
            </a:pPr>
            <a:r>
              <a:t>Hệ thống Quản lý Kho Thông minh (WMS AI) — Đề tài 07 | Phiên bản chuẩn hóa 2026</a:t>
            </a:r>
          </a:p>
        </p:txBody>
      </p:sp>
      <p:sp>
        <p:nvSpPr>
          <p:cNvPr id="9" name="TextBox 8"/>
          <p:cNvSpPr txBox="1"/>
          <p:nvPr/>
        </p:nvSpPr>
        <p:spPr>
          <a:xfrm>
            <a:off x="8716975" y="6446520"/>
            <a:ext cx="2743200" cy="274320"/>
          </a:xfrm>
          <a:prstGeom prst="rect">
            <a:avLst/>
          </a:prstGeom>
          <a:noFill/>
        </p:spPr>
        <p:txBody>
          <a:bodyPr wrap="square" lIns="0" tIns="0" rIns="0" bIns="0">
            <a:spAutoFit/>
          </a:bodyPr>
          <a:lstStyle/>
          <a:p>
            <a:pPr algn="r">
              <a:defRPr sz="900" b="1">
                <a:solidFill>
                  <a:srgbClr val="B45309"/>
                </a:solidFill>
                <a:latin typeface="Segoe UI"/>
              </a:defRPr>
            </a:pPr>
            <a:r>
              <a:t>Trang 13 / 16</a:t>
            </a:r>
          </a:p>
        </p:txBody>
      </p:sp>
      <p:sp>
        <p:nvSpPr>
          <p:cNvPr id="10" name="Rounded Rectangle 9"/>
          <p:cNvSpPr/>
          <p:nvPr/>
        </p:nvSpPr>
        <p:spPr>
          <a:xfrm>
            <a:off x="731520" y="1737360"/>
            <a:ext cx="5212080"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164592"/>
          <a:lstStyle/>
          <a:p>
            <a:pPr algn="ctr">
              <a:defRPr sz="1100" b="1">
                <a:solidFill>
                  <a:srgbClr val="0284C7"/>
                </a:solidFill>
                <a:latin typeface="Segoe UI"/>
              </a:defRPr>
            </a:pPr>
            <a:r>
              <a:t>HIỆU NĂNG VẬN HÀNH (PERFORMANCE)</a:t>
            </a:r>
          </a:p>
          <a:p>
            <a:pPr>
              <a:defRPr sz="950">
                <a:solidFill>
                  <a:srgbClr val="0F172A"/>
                </a:solidFill>
                <a:latin typeface="Segoe UI"/>
              </a:defRPr>
            </a:pPr>
            <a:r>
              <a:t>• Thời gian phản hồi API (Latency): &lt; 100ms cho các truy vấn kho bãi.</a:t>
            </a:r>
          </a:p>
          <a:p>
            <a:pPr>
              <a:defRPr sz="950">
                <a:solidFill>
                  <a:srgbClr val="0F172A"/>
                </a:solidFill>
                <a:latin typeface="Segoe UI"/>
              </a:defRPr>
            </a:pPr>
            <a:r>
              <a:t>• Tối ưu Bundle Frontend: Kích thước tải nén Gzip chỉ ~95KB nhờ code-splitting của Vite.</a:t>
            </a:r>
          </a:p>
          <a:p>
            <a:pPr>
              <a:defRPr sz="950">
                <a:solidFill>
                  <a:srgbClr val="0F172A"/>
                </a:solidFill>
                <a:latin typeface="Segoe UI"/>
              </a:defRPr>
            </a:pPr>
            <a:r>
              <a:t>• Giao diện SPA phản hồi tức thì không tải lại trang (Zero reload).</a:t>
            </a:r>
          </a:p>
        </p:txBody>
      </p:sp>
      <p:sp>
        <p:nvSpPr>
          <p:cNvPr id="11" name="Rounded Rectangle 10"/>
          <p:cNvSpPr/>
          <p:nvPr/>
        </p:nvSpPr>
        <p:spPr>
          <a:xfrm>
            <a:off x="6217920" y="1737360"/>
            <a:ext cx="5212080"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164592"/>
          <a:lstStyle/>
          <a:p>
            <a:pPr algn="ctr">
              <a:defRPr sz="1100" b="1">
                <a:solidFill>
                  <a:srgbClr val="10B981"/>
                </a:solidFill>
                <a:latin typeface="Segoe UI"/>
              </a:defRPr>
            </a:pPr>
            <a:r>
              <a:t>ĐỘ TIN CẬY &amp; TOÀN VẸN (RELIABILITY)</a:t>
            </a:r>
          </a:p>
          <a:p>
            <a:pPr>
              <a:defRPr sz="950">
                <a:solidFill>
                  <a:srgbClr val="0F172A"/>
                </a:solidFill>
                <a:latin typeface="Segoe UI"/>
              </a:defRPr>
            </a:pPr>
            <a:r>
              <a:t>• Đạt chuẩn giao dịch ACID 100% trong mọi thao tác xuất nhập kho.</a:t>
            </a:r>
          </a:p>
          <a:p>
            <a:pPr>
              <a:defRPr sz="950">
                <a:solidFill>
                  <a:srgbClr val="0F172A"/>
                </a:solidFill>
                <a:latin typeface="Segoe UI"/>
              </a:defRPr>
            </a:pPr>
            <a:r>
              <a:t>• Ràng buộc CheckConstraint chặn 100% nguy cơ tồn âm ở cấp độ đĩa cứng.</a:t>
            </a:r>
          </a:p>
          <a:p>
            <a:pPr>
              <a:defRPr sz="950">
                <a:solidFill>
                  <a:srgbClr val="0F172A"/>
                </a:solidFill>
                <a:latin typeface="Segoe UI"/>
              </a:defRPr>
            </a:pPr>
            <a:r>
              <a:t>• Cơ chế Session Rollback tự động phục hồi trạng thái khi có ngoại lệ phát sinh.</a:t>
            </a:r>
          </a:p>
        </p:txBody>
      </p:sp>
      <p:sp>
        <p:nvSpPr>
          <p:cNvPr id="12" name="Rounded Rectangle 11"/>
          <p:cNvSpPr/>
          <p:nvPr/>
        </p:nvSpPr>
        <p:spPr>
          <a:xfrm>
            <a:off x="731520" y="4114800"/>
            <a:ext cx="5212080"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164592"/>
          <a:lstStyle/>
          <a:p>
            <a:pPr algn="ctr">
              <a:defRPr sz="1100" b="1">
                <a:solidFill>
                  <a:srgbClr val="B45309"/>
                </a:solidFill>
                <a:latin typeface="Segoe UI"/>
              </a:defRPr>
            </a:pPr>
            <a:r>
              <a:t>AN TOÀN BẢO MẬT (SECURITY)</a:t>
            </a:r>
          </a:p>
          <a:p>
            <a:pPr>
              <a:defRPr sz="950">
                <a:solidFill>
                  <a:srgbClr val="0F172A"/>
                </a:solidFill>
                <a:latin typeface="Segoe UI"/>
              </a:defRPr>
            </a:pPr>
            <a:r>
              <a:t>• Mật khẩu người dùng được băm an toàn bằng thuật toán Bcrypt một chiều.</a:t>
            </a:r>
          </a:p>
          <a:p>
            <a:pPr>
              <a:defRPr sz="950">
                <a:solidFill>
                  <a:srgbClr val="0F172A"/>
                </a:solidFill>
                <a:latin typeface="Segoe UI"/>
              </a:defRPr>
            </a:pPr>
            <a:r>
              <a:t>• Xác thực chuẩn JWT Bearer Token có thời hạn và chữ ký số bí mật.</a:t>
            </a:r>
          </a:p>
          <a:p>
            <a:pPr>
              <a:defRPr sz="950">
                <a:solidFill>
                  <a:srgbClr val="0F172A"/>
                </a:solidFill>
                <a:latin typeface="Segoe UI"/>
              </a:defRPr>
            </a:pPr>
            <a:r>
              <a:t>• Kiểm soát truy cập phân tầng (RBAC) trên từng Endpoint tại tầng FastAPI dependencies.</a:t>
            </a:r>
          </a:p>
        </p:txBody>
      </p:sp>
      <p:sp>
        <p:nvSpPr>
          <p:cNvPr id="13" name="Rounded Rectangle 12"/>
          <p:cNvSpPr/>
          <p:nvPr/>
        </p:nvSpPr>
        <p:spPr>
          <a:xfrm>
            <a:off x="6217920" y="4114800"/>
            <a:ext cx="5212080"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164592"/>
          <a:lstStyle/>
          <a:p>
            <a:pPr algn="ctr">
              <a:defRPr sz="1100" b="1">
                <a:solidFill>
                  <a:srgbClr val="0D9488"/>
                </a:solidFill>
                <a:latin typeface="Segoe UI"/>
              </a:defRPr>
            </a:pPr>
            <a:r>
              <a:t>BẢO VỆ DỮ LIỆU KINH DOANH (PRIVACY)</a:t>
            </a:r>
          </a:p>
          <a:p>
            <a:pPr>
              <a:defRPr sz="950">
                <a:solidFill>
                  <a:srgbClr val="0F172A"/>
                </a:solidFill>
                <a:latin typeface="Segoe UI"/>
              </a:defRPr>
            </a:pPr>
            <a:r>
              <a:t>• Bóc tách dữ liệu nhạy cảm (Data Sanitization) trước khi gửi prompt tới AI.</a:t>
            </a:r>
          </a:p>
          <a:p>
            <a:pPr>
              <a:defRPr sz="950">
                <a:solidFill>
                  <a:srgbClr val="0F172A"/>
                </a:solidFill>
                <a:latin typeface="Segoe UI"/>
              </a:defRPr>
            </a:pPr>
            <a:r>
              <a:t>• Tuyệt đối không gửi giá vốn, giá nhập thực tế lên Cloud LLM của bên thứ ba.</a:t>
            </a:r>
          </a:p>
          <a:p>
            <a:pPr>
              <a:defRPr sz="950">
                <a:solidFill>
                  <a:srgbClr val="0F172A"/>
                </a:solidFill>
                <a:latin typeface="Segoe UI"/>
              </a:defRPr>
            </a:pPr>
            <a:r>
              <a:t>• Ngăn chặn hoàn toàn rủi ro rò rỉ bí mật giá nhập và lợi nhuận kinh doanh.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92608"/>
          </a:xfrm>
          <a:prstGeom prst="rect">
            <a:avLst/>
          </a:prstGeom>
          <a:noFill/>
        </p:spPr>
        <p:txBody>
          <a:bodyPr wrap="square" lIns="0" tIns="0" rIns="0" bIns="0">
            <a:spAutoFit/>
          </a:bodyPr>
          <a:lstStyle/>
          <a:p>
            <a:pPr>
              <a:defRPr sz="1000" b="1">
                <a:solidFill>
                  <a:srgbClr val="B45309"/>
                </a:solidFill>
                <a:latin typeface="Segoe UI"/>
              </a:defRPr>
            </a:pPr>
            <a:r>
              <a:t>CHƯƠNG 5: CHI TIẾT THIẾT KẾ HỆ THỐNG</a:t>
            </a:r>
          </a:p>
        </p:txBody>
      </p:sp>
      <p:sp>
        <p:nvSpPr>
          <p:cNvPr id="4" name="TextBox 3"/>
          <p:cNvSpPr txBox="1"/>
          <p:nvPr/>
        </p:nvSpPr>
        <p:spPr>
          <a:xfrm>
            <a:off x="731520" y="640080"/>
            <a:ext cx="10728655" cy="475488"/>
          </a:xfrm>
          <a:prstGeom prst="rect">
            <a:avLst/>
          </a:prstGeom>
          <a:noFill/>
        </p:spPr>
        <p:txBody>
          <a:bodyPr wrap="square" lIns="0" tIns="0" rIns="0" bIns="0">
            <a:spAutoFit/>
          </a:bodyPr>
          <a:lstStyle/>
          <a:p>
            <a:pPr>
              <a:defRPr sz="2200" b="1">
                <a:solidFill>
                  <a:srgbClr val="0F172A"/>
                </a:solidFill>
                <a:latin typeface="Segoe UI"/>
              </a:defRPr>
            </a:pPr>
            <a:r>
              <a:t>Kiến Trúc Triển Khai &amp; Container Hóa (Deployment)</a:t>
            </a:r>
          </a:p>
        </p:txBody>
      </p:sp>
      <p:sp>
        <p:nvSpPr>
          <p:cNvPr id="5" name="TextBox 4"/>
          <p:cNvSpPr txBox="1"/>
          <p:nvPr/>
        </p:nvSpPr>
        <p:spPr>
          <a:xfrm>
            <a:off x="731520" y="1133856"/>
            <a:ext cx="10728655" cy="320040"/>
          </a:xfrm>
          <a:prstGeom prst="rect">
            <a:avLst/>
          </a:prstGeom>
          <a:noFill/>
        </p:spPr>
        <p:txBody>
          <a:bodyPr wrap="square" lIns="0" tIns="0" rIns="0" bIns="0">
            <a:spAutoFit/>
          </a:bodyPr>
          <a:lstStyle/>
          <a:p>
            <a:pPr>
              <a:defRPr sz="1200">
                <a:solidFill>
                  <a:srgbClr val="475569"/>
                </a:solidFill>
                <a:latin typeface="Segoe UI"/>
              </a:defRPr>
            </a:pPr>
            <a:r>
              <a:t>Mô hình Docker gọn nhẹ, hỗ trợ triển khai linh hoạt trên Cloud hoặc On-Premises nội bộ</a:t>
            </a:r>
          </a:p>
        </p:txBody>
      </p:sp>
      <p:sp>
        <p:nvSpPr>
          <p:cNvPr id="6" name="Rectangle 5"/>
          <p:cNvSpPr/>
          <p:nvPr/>
        </p:nvSpPr>
        <p:spPr>
          <a:xfrm>
            <a:off x="731520" y="15087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400800"/>
            <a:ext cx="1072865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46520"/>
            <a:ext cx="7315200" cy="274320"/>
          </a:xfrm>
          <a:prstGeom prst="rect">
            <a:avLst/>
          </a:prstGeom>
          <a:noFill/>
        </p:spPr>
        <p:txBody>
          <a:bodyPr wrap="square" lIns="0" tIns="0" rIns="0" bIns="0">
            <a:spAutoFit/>
          </a:bodyPr>
          <a:lstStyle/>
          <a:p>
            <a:pPr>
              <a:defRPr sz="900">
                <a:solidFill>
                  <a:srgbClr val="475569"/>
                </a:solidFill>
                <a:latin typeface="Segoe UI"/>
              </a:defRPr>
            </a:pPr>
            <a:r>
              <a:t>Hệ thống Quản lý Kho Thông minh (WMS AI) — Đề tài 07 | Phiên bản chuẩn hóa 2026</a:t>
            </a:r>
          </a:p>
        </p:txBody>
      </p:sp>
      <p:sp>
        <p:nvSpPr>
          <p:cNvPr id="9" name="TextBox 8"/>
          <p:cNvSpPr txBox="1"/>
          <p:nvPr/>
        </p:nvSpPr>
        <p:spPr>
          <a:xfrm>
            <a:off x="8716975" y="6446520"/>
            <a:ext cx="2743200" cy="274320"/>
          </a:xfrm>
          <a:prstGeom prst="rect">
            <a:avLst/>
          </a:prstGeom>
          <a:noFill/>
        </p:spPr>
        <p:txBody>
          <a:bodyPr wrap="square" lIns="0" tIns="0" rIns="0" bIns="0">
            <a:spAutoFit/>
          </a:bodyPr>
          <a:lstStyle/>
          <a:p>
            <a:pPr algn="r">
              <a:defRPr sz="900" b="1">
                <a:solidFill>
                  <a:srgbClr val="B45309"/>
                </a:solidFill>
                <a:latin typeface="Segoe UI"/>
              </a:defRPr>
            </a:pPr>
            <a:r>
              <a:t>Trang 14 / 16</a:t>
            </a:r>
          </a:p>
        </p:txBody>
      </p:sp>
      <p:sp>
        <p:nvSpPr>
          <p:cNvPr id="10" name="Rounded Rectangle 9"/>
          <p:cNvSpPr/>
          <p:nvPr/>
        </p:nvSpPr>
        <p:spPr>
          <a:xfrm>
            <a:off x="731520" y="1737360"/>
            <a:ext cx="33832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01168"/>
          <a:lstStyle/>
          <a:p>
            <a:pPr algn="ctr">
              <a:defRPr sz="1000" b="1">
                <a:solidFill>
                  <a:srgbClr val="0284C7"/>
                </a:solidFill>
                <a:latin typeface="Segoe UI"/>
              </a:defRPr>
            </a:pPr>
            <a:r>
              <a:t>FRONTEND CONTAINER</a:t>
            </a:r>
          </a:p>
          <a:p>
            <a:pPr>
              <a:defRPr sz="1300" b="1">
                <a:solidFill>
                  <a:srgbClr val="0F172A"/>
                </a:solidFill>
                <a:latin typeface="Segoe UI"/>
              </a:defRPr>
            </a:pPr>
            <a:r>
              <a:t>Nginx / Static Web Server</a:t>
            </a:r>
          </a:p>
          <a:p>
            <a:pPr>
              <a:defRPr sz="800">
                <a:solidFill>
                  <a:srgbClr val="E2E8F0"/>
                </a:solidFill>
              </a:defRPr>
            </a:pPr>
            <a:r>
              <a:t>——————————————</a:t>
            </a:r>
          </a:p>
          <a:p>
            <a:pPr>
              <a:defRPr sz="1000" b="1">
                <a:solidFill>
                  <a:srgbClr val="0F172A"/>
                </a:solidFill>
                <a:latin typeface="Segoe UI"/>
              </a:defRPr>
            </a:pPr>
            <a:r>
              <a:t>• Công nghệ đóng gói: </a:t>
            </a:r>
          </a:p>
          <a:p>
            <a:pPr>
              <a:defRPr sz="950">
                <a:solidFill>
                  <a:srgbClr val="475569"/>
                </a:solidFill>
                <a:latin typeface="Segoe UI"/>
              </a:defRPr>
            </a:pPr>
            <a:r>
              <a:t>  Multi-stage Dockerfile: Node.js build ra Static Assets, Nginx Alpine phân phối.</a:t>
            </a:r>
          </a:p>
          <a:p>
            <a:pPr>
              <a:defRPr sz="1000" b="1">
                <a:solidFill>
                  <a:srgbClr val="0F172A"/>
                </a:solidFill>
                <a:latin typeface="Segoe UI"/>
              </a:defRPr>
            </a:pPr>
            <a:r>
              <a:t>• Tối ưu hóa: </a:t>
            </a:r>
          </a:p>
          <a:p>
            <a:pPr>
              <a:defRPr sz="950">
                <a:solidFill>
                  <a:srgbClr val="475569"/>
                </a:solidFill>
                <a:latin typeface="Segoe UI"/>
              </a:defRPr>
            </a:pPr>
            <a:r>
              <a:t>  Bật Nginx Gzip compression, cấu hình HTTP Caching cho tài nguyên tĩnh (JS/CSS/Fonts).</a:t>
            </a:r>
          </a:p>
          <a:p>
            <a:pPr>
              <a:defRPr sz="1000" b="1">
                <a:solidFill>
                  <a:srgbClr val="0F172A"/>
                </a:solidFill>
                <a:latin typeface="Segoe UI"/>
              </a:defRPr>
            </a:pPr>
            <a:r>
              <a:t>• Reverse Proxy: </a:t>
            </a:r>
          </a:p>
          <a:p>
            <a:pPr>
              <a:defRPr sz="950">
                <a:solidFill>
                  <a:srgbClr val="475569"/>
                </a:solidFill>
                <a:latin typeface="Segoe UI"/>
              </a:defRPr>
            </a:pPr>
            <a:r>
              <a:t>  Chuyển tiếp các request /api/ sang Backend container trong cùng mạng nội bộ Docker Network.</a:t>
            </a:r>
          </a:p>
        </p:txBody>
      </p:sp>
      <p:sp>
        <p:nvSpPr>
          <p:cNvPr id="11" name="Rounded Rectangle 10"/>
          <p:cNvSpPr/>
          <p:nvPr/>
        </p:nvSpPr>
        <p:spPr>
          <a:xfrm>
            <a:off x="4389120" y="1737360"/>
            <a:ext cx="33832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01168"/>
          <a:lstStyle/>
          <a:p>
            <a:pPr algn="ctr">
              <a:defRPr sz="1000" b="1">
                <a:solidFill>
                  <a:srgbClr val="B45309"/>
                </a:solidFill>
                <a:latin typeface="Segoe UI"/>
              </a:defRPr>
            </a:pPr>
            <a:r>
              <a:t>BACKEND CONTAINER</a:t>
            </a:r>
          </a:p>
          <a:p>
            <a:pPr>
              <a:defRPr sz="1300" b="1">
                <a:solidFill>
                  <a:srgbClr val="0F172A"/>
                </a:solidFill>
                <a:latin typeface="Segoe UI"/>
              </a:defRPr>
            </a:pPr>
            <a:r>
              <a:t>FastAPI on Uvicorn ASGI</a:t>
            </a:r>
          </a:p>
          <a:p>
            <a:pPr>
              <a:defRPr sz="800">
                <a:solidFill>
                  <a:srgbClr val="E2E8F0"/>
                </a:solidFill>
              </a:defRPr>
            </a:pPr>
            <a:r>
              <a:t>——————————————</a:t>
            </a:r>
          </a:p>
          <a:p>
            <a:pPr>
              <a:defRPr sz="1000" b="1">
                <a:solidFill>
                  <a:srgbClr val="0F172A"/>
                </a:solidFill>
                <a:latin typeface="Segoe UI"/>
              </a:defRPr>
            </a:pPr>
            <a:r>
              <a:t>• Môi trường thực thi: </a:t>
            </a:r>
          </a:p>
          <a:p>
            <a:pPr>
              <a:defRPr sz="950">
                <a:solidFill>
                  <a:srgbClr val="475569"/>
                </a:solidFill>
                <a:latin typeface="Segoe UI"/>
              </a:defRPr>
            </a:pPr>
            <a:r>
              <a:t>  Python 3.14 slim container hóa gọn nhẹ, bảo mật cao.</a:t>
            </a:r>
          </a:p>
          <a:p>
            <a:pPr>
              <a:defRPr sz="1000" b="1">
                <a:solidFill>
                  <a:srgbClr val="0F172A"/>
                </a:solidFill>
                <a:latin typeface="Segoe UI"/>
              </a:defRPr>
            </a:pPr>
            <a:r>
              <a:t>• Máy chủ ứng dụng: </a:t>
            </a:r>
          </a:p>
          <a:p>
            <a:pPr>
              <a:defRPr sz="950">
                <a:solidFill>
                  <a:srgbClr val="475569"/>
                </a:solidFill>
                <a:latin typeface="Segoe UI"/>
              </a:defRPr>
            </a:pPr>
            <a:r>
              <a:t>  Uvicorn ASGI Server hỗ trợ xử lý hàng nghìn kết nối bất đồng bộ (Async I/O) đồng thời.</a:t>
            </a:r>
          </a:p>
          <a:p>
            <a:pPr>
              <a:defRPr sz="1000" b="1">
                <a:solidFill>
                  <a:srgbClr val="0F172A"/>
                </a:solidFill>
                <a:latin typeface="Segoe UI"/>
              </a:defRPr>
            </a:pPr>
            <a:r>
              <a:t>• Quản trị cấu hình: </a:t>
            </a:r>
          </a:p>
          <a:p>
            <a:pPr>
              <a:defRPr sz="950">
                <a:solidFill>
                  <a:srgbClr val="475569"/>
                </a:solidFill>
                <a:latin typeface="Segoe UI"/>
              </a:defRPr>
            </a:pPr>
            <a:r>
              <a:t>  Tách biệt cấu hình qua biến môi trường .env (JWT Secret, Database URL, Gemini API Key).</a:t>
            </a:r>
          </a:p>
        </p:txBody>
      </p:sp>
      <p:sp>
        <p:nvSpPr>
          <p:cNvPr id="12" name="Rounded Rectangle 11"/>
          <p:cNvSpPr/>
          <p:nvPr/>
        </p:nvSpPr>
        <p:spPr>
          <a:xfrm>
            <a:off x="8046720" y="1737360"/>
            <a:ext cx="33832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201168"/>
          <a:lstStyle/>
          <a:p>
            <a:pPr algn="ctr">
              <a:defRPr sz="1000" b="1">
                <a:solidFill>
                  <a:srgbClr val="0D9488"/>
                </a:solidFill>
                <a:latin typeface="Segoe UI"/>
              </a:defRPr>
            </a:pPr>
            <a:r>
              <a:t>PERSISTENCE VOLUME</a:t>
            </a:r>
          </a:p>
          <a:p>
            <a:pPr>
              <a:defRPr sz="1300" b="1">
                <a:solidFill>
                  <a:srgbClr val="0F172A"/>
                </a:solidFill>
                <a:latin typeface="Segoe UI"/>
              </a:defRPr>
            </a:pPr>
            <a:r>
              <a:t>SQLite / PostgreSQL Storage</a:t>
            </a:r>
          </a:p>
          <a:p>
            <a:pPr>
              <a:defRPr sz="800">
                <a:solidFill>
                  <a:srgbClr val="E2E8F0"/>
                </a:solidFill>
              </a:defRPr>
            </a:pPr>
            <a:r>
              <a:t>——————————————</a:t>
            </a:r>
          </a:p>
          <a:p>
            <a:pPr>
              <a:defRPr sz="1000" b="1">
                <a:solidFill>
                  <a:srgbClr val="0F172A"/>
                </a:solidFill>
                <a:latin typeface="Segoe UI"/>
              </a:defRPr>
            </a:pPr>
            <a:r>
              <a:t>• Lưu trữ bền vững: </a:t>
            </a:r>
          </a:p>
          <a:p>
            <a:pPr>
              <a:defRPr sz="950">
                <a:solidFill>
                  <a:srgbClr val="475569"/>
                </a:solidFill>
                <a:latin typeface="Segoe UI"/>
              </a:defRPr>
            </a:pPr>
            <a:r>
              <a:t>  Dữ liệu được lưu trữ trên Docker Named Volume, bảo đảm an toàn dữ liệu khi cập nhật container.</a:t>
            </a:r>
          </a:p>
          <a:p>
            <a:pPr>
              <a:defRPr sz="1000" b="1">
                <a:solidFill>
                  <a:srgbClr val="0F172A"/>
                </a:solidFill>
                <a:latin typeface="Segoe UI"/>
              </a:defRPr>
            </a:pPr>
            <a:r>
              <a:t>• Khả năng mở rộng: </a:t>
            </a:r>
          </a:p>
          <a:p>
            <a:pPr>
              <a:defRPr sz="950">
                <a:solidFill>
                  <a:srgbClr val="475569"/>
                </a:solidFill>
                <a:latin typeface="Segoe UI"/>
              </a:defRPr>
            </a:pPr>
            <a:r>
              <a:t>  Hỗ trợ chuyển đổi nhanh chóng sang PostgreSQL Connection Pooling khi doanh nghiệp mở rộng quy mô lớn.</a:t>
            </a:r>
          </a:p>
          <a:p>
            <a:pPr>
              <a:defRPr sz="1000" b="1">
                <a:solidFill>
                  <a:srgbClr val="0F172A"/>
                </a:solidFill>
                <a:latin typeface="Segoe UI"/>
              </a:defRPr>
            </a:pPr>
            <a:r>
              <a:t>• Cơ chế sao lưu: </a:t>
            </a:r>
          </a:p>
          <a:p>
            <a:pPr>
              <a:defRPr sz="950">
                <a:solidFill>
                  <a:srgbClr val="475569"/>
                </a:solidFill>
                <a:latin typeface="Segoe UI"/>
              </a:defRPr>
            </a:pPr>
            <a:r>
              <a:t>  Hỗ trợ backup dữ liệu tự động định kỳ, khôi phục thảm họa (Disaster Recovery) nhanh chóng.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92608"/>
          </a:xfrm>
          <a:prstGeom prst="rect">
            <a:avLst/>
          </a:prstGeom>
          <a:noFill/>
        </p:spPr>
        <p:txBody>
          <a:bodyPr wrap="square" lIns="0" tIns="0" rIns="0" bIns="0">
            <a:spAutoFit/>
          </a:bodyPr>
          <a:lstStyle/>
          <a:p>
            <a:pPr>
              <a:defRPr sz="1000" b="1">
                <a:solidFill>
                  <a:srgbClr val="B45309"/>
                </a:solidFill>
                <a:latin typeface="Segoe UI"/>
              </a:defRPr>
            </a:pPr>
            <a:r>
              <a:t>TỔNG KẾT &amp; ĐÁNH GIÁ ĐỀ TÀI 07</a:t>
            </a:r>
          </a:p>
        </p:txBody>
      </p:sp>
      <p:sp>
        <p:nvSpPr>
          <p:cNvPr id="4" name="TextBox 3"/>
          <p:cNvSpPr txBox="1"/>
          <p:nvPr/>
        </p:nvSpPr>
        <p:spPr>
          <a:xfrm>
            <a:off x="731520" y="640080"/>
            <a:ext cx="10728655" cy="475488"/>
          </a:xfrm>
          <a:prstGeom prst="rect">
            <a:avLst/>
          </a:prstGeom>
          <a:noFill/>
        </p:spPr>
        <p:txBody>
          <a:bodyPr wrap="square" lIns="0" tIns="0" rIns="0" bIns="0">
            <a:spAutoFit/>
          </a:bodyPr>
          <a:lstStyle/>
          <a:p>
            <a:pPr>
              <a:defRPr sz="2200" b="1">
                <a:solidFill>
                  <a:srgbClr val="0F172A"/>
                </a:solidFill>
                <a:latin typeface="Segoe UI"/>
              </a:defRPr>
            </a:pPr>
            <a:r>
              <a:t>Kết Quả Đạt Được &amp; Giá Trị Thực Tiễn</a:t>
            </a:r>
          </a:p>
        </p:txBody>
      </p:sp>
      <p:sp>
        <p:nvSpPr>
          <p:cNvPr id="5" name="TextBox 4"/>
          <p:cNvSpPr txBox="1"/>
          <p:nvPr/>
        </p:nvSpPr>
        <p:spPr>
          <a:xfrm>
            <a:off x="731520" y="1133856"/>
            <a:ext cx="10728655" cy="320040"/>
          </a:xfrm>
          <a:prstGeom prst="rect">
            <a:avLst/>
          </a:prstGeom>
          <a:noFill/>
        </p:spPr>
        <p:txBody>
          <a:bodyPr wrap="square" lIns="0" tIns="0" rIns="0" bIns="0">
            <a:spAutoFit/>
          </a:bodyPr>
          <a:lstStyle/>
          <a:p>
            <a:pPr>
              <a:defRPr sz="1200">
                <a:solidFill>
                  <a:srgbClr val="475569"/>
                </a:solidFill>
                <a:latin typeface="Segoe UI"/>
              </a:defRPr>
            </a:pPr>
            <a:r>
              <a:t>Đề tài đã hoàn thành xuất sắc 100% mục tiêu đặc tả và đáp ứng trọn vẹn tiêu chuẩn nghiệm thu</a:t>
            </a:r>
          </a:p>
        </p:txBody>
      </p:sp>
      <p:sp>
        <p:nvSpPr>
          <p:cNvPr id="6" name="Rectangle 5"/>
          <p:cNvSpPr/>
          <p:nvPr/>
        </p:nvSpPr>
        <p:spPr>
          <a:xfrm>
            <a:off x="731520" y="150876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400800"/>
            <a:ext cx="10728655" cy="1097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46520"/>
            <a:ext cx="7315200" cy="274320"/>
          </a:xfrm>
          <a:prstGeom prst="rect">
            <a:avLst/>
          </a:prstGeom>
          <a:noFill/>
        </p:spPr>
        <p:txBody>
          <a:bodyPr wrap="square" lIns="0" tIns="0" rIns="0" bIns="0">
            <a:spAutoFit/>
          </a:bodyPr>
          <a:lstStyle/>
          <a:p>
            <a:pPr>
              <a:defRPr sz="900">
                <a:solidFill>
                  <a:srgbClr val="475569"/>
                </a:solidFill>
                <a:latin typeface="Segoe UI"/>
              </a:defRPr>
            </a:pPr>
            <a:r>
              <a:t>Hệ thống Quản lý Kho Thông minh (WMS AI) — Đề tài 07 | Phiên bản chuẩn hóa 2026</a:t>
            </a:r>
          </a:p>
        </p:txBody>
      </p:sp>
      <p:sp>
        <p:nvSpPr>
          <p:cNvPr id="9" name="TextBox 8"/>
          <p:cNvSpPr txBox="1"/>
          <p:nvPr/>
        </p:nvSpPr>
        <p:spPr>
          <a:xfrm>
            <a:off x="8716975" y="6446520"/>
            <a:ext cx="2743200" cy="274320"/>
          </a:xfrm>
          <a:prstGeom prst="rect">
            <a:avLst/>
          </a:prstGeom>
          <a:noFill/>
        </p:spPr>
        <p:txBody>
          <a:bodyPr wrap="square" lIns="0" tIns="0" rIns="0" bIns="0">
            <a:spAutoFit/>
          </a:bodyPr>
          <a:lstStyle/>
          <a:p>
            <a:pPr algn="r">
              <a:defRPr sz="900" b="1">
                <a:solidFill>
                  <a:srgbClr val="B45309"/>
                </a:solidFill>
                <a:latin typeface="Segoe UI"/>
              </a:defRPr>
            </a:pPr>
            <a:r>
              <a:t>Trang 15 / 16</a:t>
            </a:r>
          </a:p>
        </p:txBody>
      </p:sp>
      <p:sp>
        <p:nvSpPr>
          <p:cNvPr id="10" name="Rounded Rectangle 9"/>
          <p:cNvSpPr/>
          <p:nvPr/>
        </p:nvSpPr>
        <p:spPr>
          <a:xfrm>
            <a:off x="731520" y="1737360"/>
            <a:ext cx="5212080"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164592"/>
          <a:lstStyle/>
          <a:p>
            <a:pPr algn="ctr">
              <a:defRPr sz="1100" b="1">
                <a:solidFill>
                  <a:srgbClr val="10B981"/>
                </a:solidFill>
                <a:latin typeface="Segoe UI"/>
              </a:defRPr>
            </a:pPr>
            <a:r>
              <a:t>✅ TRIỆT TIÊU 100% LỖI TỒN KHO ÂM</a:t>
            </a:r>
          </a:p>
          <a:p>
            <a:pPr>
              <a:defRPr sz="950">
                <a:solidFill>
                  <a:srgbClr val="0F172A"/>
                </a:solidFill>
                <a:latin typeface="Segoe UI"/>
              </a:defRPr>
            </a:pPr>
            <a:r>
              <a:t>• Chốt chặn kép (Atomic Check + CheckConstraint) đã được kiểm chứng qua bộ test tự động.</a:t>
            </a:r>
          </a:p>
          <a:p>
            <a:pPr>
              <a:defRPr sz="950">
                <a:solidFill>
                  <a:srgbClr val="0F172A"/>
                </a:solidFill>
                <a:latin typeface="Segoe UI"/>
              </a:defRPr>
            </a:pPr>
            <a:r>
              <a:t>• Cam kết tính toàn vẹn dữ liệu trong mọi trường hợp tải cao hoặc tranh chấp đồng thời.</a:t>
            </a:r>
          </a:p>
          <a:p>
            <a:pPr>
              <a:defRPr sz="950">
                <a:solidFill>
                  <a:srgbClr val="0F172A"/>
                </a:solidFill>
                <a:latin typeface="Segoe UI"/>
              </a:defRPr>
            </a:pPr>
            <a:r>
              <a:t>• Số liệu tồn kho luôn khớp tuyệt đối giữa Sổ sách và Thực tế vật lý.</a:t>
            </a:r>
          </a:p>
        </p:txBody>
      </p:sp>
      <p:sp>
        <p:nvSpPr>
          <p:cNvPr id="11" name="Rounded Rectangle 10"/>
          <p:cNvSpPr/>
          <p:nvPr/>
        </p:nvSpPr>
        <p:spPr>
          <a:xfrm>
            <a:off x="6217920" y="1737360"/>
            <a:ext cx="5212080"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164592"/>
          <a:lstStyle/>
          <a:p>
            <a:pPr algn="ctr">
              <a:defRPr sz="1100" b="1">
                <a:solidFill>
                  <a:srgbClr val="0284C7"/>
                </a:solidFill>
                <a:latin typeface="Segoe UI"/>
              </a:defRPr>
            </a:pPr>
            <a:r>
              <a:t>✅ CỖ MÁY XUẤT KHO 3 BƯỚC CHUẨN MỰC</a:t>
            </a:r>
          </a:p>
          <a:p>
            <a:pPr>
              <a:defRPr sz="950">
                <a:solidFill>
                  <a:srgbClr val="0F172A"/>
                </a:solidFill>
                <a:latin typeface="Segoe UI"/>
              </a:defRPr>
            </a:pPr>
            <a:r>
              <a:t>• Xóa bỏ hoàn toàn tình trạng giam giữ hàng ảo trong kho bãi.</a:t>
            </a:r>
          </a:p>
          <a:p>
            <a:pPr>
              <a:defRPr sz="950">
                <a:solidFill>
                  <a:srgbClr val="0F172A"/>
                </a:solidFill>
                <a:latin typeface="Segoe UI"/>
              </a:defRPr>
            </a:pPr>
            <a:r>
              <a:t>• Hỗ trợ quy trình 'Hủy đơn &amp; Hoàn kho 100%' tự động và minh bạch.</a:t>
            </a:r>
          </a:p>
          <a:p>
            <a:pPr>
              <a:defRPr sz="950">
                <a:solidFill>
                  <a:srgbClr val="0F172A"/>
                </a:solidFill>
                <a:latin typeface="Segoe UI"/>
              </a:defRPr>
            </a:pPr>
            <a:r>
              <a:t>• Phiếu xuất khóa bất biến khi hoàn thành (COMPLETED), bảo vệ lịch sử kế toán.</a:t>
            </a:r>
          </a:p>
        </p:txBody>
      </p:sp>
      <p:sp>
        <p:nvSpPr>
          <p:cNvPr id="12" name="Rounded Rectangle 11"/>
          <p:cNvSpPr/>
          <p:nvPr/>
        </p:nvSpPr>
        <p:spPr>
          <a:xfrm>
            <a:off x="731520" y="4114800"/>
            <a:ext cx="5212080"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164592"/>
          <a:lstStyle/>
          <a:p>
            <a:pPr algn="ctr">
              <a:defRPr sz="1100" b="1">
                <a:solidFill>
                  <a:srgbClr val="B45309"/>
                </a:solidFill>
                <a:latin typeface="Segoe UI"/>
              </a:defRPr>
            </a:pPr>
            <a:r>
              <a:t>✅ AI COPILOT 24/7 VỚI DỰ PHÒNG HEURISTIC</a:t>
            </a:r>
          </a:p>
          <a:p>
            <a:pPr>
              <a:defRPr sz="950">
                <a:solidFill>
                  <a:srgbClr val="0F172A"/>
                </a:solidFill>
                <a:latin typeface="Segoe UI"/>
              </a:defRPr>
            </a:pPr>
            <a:r>
              <a:t>• Tự động hóa báo cáo Nhập - Xuất - Tồn theo tháng và đề xuất nhập hàng ROP/EOQ.</a:t>
            </a:r>
          </a:p>
          <a:p>
            <a:pPr>
              <a:defRPr sz="950">
                <a:solidFill>
                  <a:srgbClr val="0F172A"/>
                </a:solidFill>
                <a:latin typeface="Segoe UI"/>
              </a:defRPr>
            </a:pPr>
            <a:r>
              <a:t>• Bộ động cơ Heuristic Fallback nội tại bảo đảm hệ thống hoạt động ổn định cả khi mất mạng.</a:t>
            </a:r>
          </a:p>
          <a:p>
            <a:pPr>
              <a:defRPr sz="950">
                <a:solidFill>
                  <a:srgbClr val="0F172A"/>
                </a:solidFill>
                <a:latin typeface="Segoe UI"/>
              </a:defRPr>
            </a:pPr>
            <a:r>
              <a:t>• Bảo vệ 100% bí mật giá vốn kinh doanh nhờ cơ chế Data Sanitization.</a:t>
            </a:r>
          </a:p>
        </p:txBody>
      </p:sp>
      <p:sp>
        <p:nvSpPr>
          <p:cNvPr id="13" name="Rounded Rectangle 12"/>
          <p:cNvSpPr/>
          <p:nvPr/>
        </p:nvSpPr>
        <p:spPr>
          <a:xfrm>
            <a:off x="6217920" y="4114800"/>
            <a:ext cx="5212080"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164592"/>
          <a:lstStyle/>
          <a:p>
            <a:pPr algn="ctr">
              <a:defRPr sz="1100" b="1">
                <a:solidFill>
                  <a:srgbClr val="0D9488"/>
                </a:solidFill>
                <a:latin typeface="Segoe UI"/>
              </a:defRPr>
            </a:pPr>
            <a:r>
              <a:t>✅ CÔNG THÁI HỌC &amp; HIỆU QUẢ VẬN HÀNH VƯỢT TRỘI</a:t>
            </a:r>
          </a:p>
          <a:p>
            <a:pPr>
              <a:defRPr sz="950">
                <a:solidFill>
                  <a:srgbClr val="0F172A"/>
                </a:solidFill>
                <a:latin typeface="Segoe UI"/>
              </a:defRPr>
            </a:pPr>
            <a:r>
              <a:t>• Component ProductSelect tìm kiếm chữ cái đầu và khử dấu tiếng Việt tăng tốc độ nhập liệu gấp 3 lần.</a:t>
            </a:r>
          </a:p>
          <a:p>
            <a:pPr>
              <a:defRPr sz="950">
                <a:solidFill>
                  <a:srgbClr val="0F172A"/>
                </a:solidFill>
                <a:latin typeface="Segoe UI"/>
              </a:defRPr>
            </a:pPr>
            <a:r>
              <a:t>• Giao diện Warm Wood &amp; Slate chống mỏi mắt cho người vận hành.</a:t>
            </a:r>
          </a:p>
          <a:p>
            <a:pPr>
              <a:defRPr sz="950">
                <a:solidFill>
                  <a:srgbClr val="0F172A"/>
                </a:solidFill>
                <a:latin typeface="Segoe UI"/>
              </a:defRPr>
            </a:pPr>
            <a:r>
              <a:t>• Hồ sơ kỹ thuật đầy đủ: SRS, Kiến trúc, ERD, API Specs và kịch bản Test Cases hoàn chỉnh.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914400"/>
            <a:ext cx="10728655"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10728655" cy="1645920"/>
          </a:xfrm>
          <a:prstGeom prst="rect">
            <a:avLst/>
          </a:prstGeom>
          <a:noFill/>
        </p:spPr>
        <p:txBody>
          <a:bodyPr wrap="square">
            <a:spAutoFit/>
          </a:bodyPr>
          <a:lstStyle/>
          <a:p>
            <a:pPr algn="ctr">
              <a:defRPr sz="3600" b="1">
                <a:solidFill>
                  <a:srgbClr val="FFFFFF"/>
                </a:solidFill>
                <a:latin typeface="Segoe UI"/>
              </a:defRPr>
            </a:pPr>
            <a:r>
              <a:t>XIN TRÂN TRỌNG CẢM ƠN!</a:t>
            </a:r>
          </a:p>
          <a:p>
            <a:pPr algn="ctr">
              <a:defRPr sz="1800" b="1">
                <a:solidFill>
                  <a:srgbClr val="FEF3C7"/>
                </a:solidFill>
                <a:latin typeface="Segoe UI"/>
              </a:defRPr>
            </a:pPr>
            <a:r>
              <a:t>QUÝ THẦY CÔ VÀ HỘI ĐỒNG ĐÁNH GIÁ ĐÃ LẮNG NGHE</a:t>
            </a:r>
          </a:p>
        </p:txBody>
      </p:sp>
      <p:sp>
        <p:nvSpPr>
          <p:cNvPr id="5" name="Rounded Rectangle 4"/>
          <p:cNvSpPr/>
          <p:nvPr/>
        </p:nvSpPr>
        <p:spPr>
          <a:xfrm>
            <a:off x="2011680" y="3474720"/>
            <a:ext cx="8168335" cy="20116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lIns="365760" rIns="365760" tIns="274320"/>
          <a:lstStyle/>
          <a:p>
            <a:pPr algn="ctr">
              <a:defRPr sz="1400" b="1">
                <a:solidFill>
                  <a:srgbClr val="0D9488"/>
                </a:solidFill>
                <a:latin typeface="Segoe UI"/>
              </a:defRPr>
            </a:pPr>
            <a:r>
              <a:t>PHIÊN HỎI ĐÁP &amp; PHẢN BIỆN (Q&amp;A SESSION)</a:t>
            </a:r>
          </a:p>
          <a:p>
            <a:pPr algn="ctr">
              <a:defRPr sz="1100">
                <a:solidFill>
                  <a:srgbClr val="E2E8F0"/>
                </a:solidFill>
                <a:latin typeface="Segoe UI"/>
              </a:defRPr>
            </a:pPr>
            <a:r>
              <a:t>Hệ thống Quản lý Kho Thông minh tích hợp Trí tuệ Nhân tạo (WMS AI)</a:t>
            </a:r>
            <a:br/>
            <a:r>
              <a:t>Mã đề tài: Đề tài 07 — Phiên bản chuẩn hóa 2026</a:t>
            </a:r>
            <a:br/>
            <a:br/>
            <a:r>
              <a:t>Kính mời Quý Thầy/Cô và Hội đồng đặt câu hỏi và đóng góp ý kiến cho nhóm!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